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2136"/>
    <a:srgbClr val="00C4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42"/>
    <p:restoredTop sz="94610"/>
  </p:normalViewPr>
  <p:slideViewPr>
    <p:cSldViewPr snapToGrid="0" snapToObjects="1">
      <p:cViewPr>
        <p:scale>
          <a:sx n="118" d="100"/>
          <a:sy n="118" d="100"/>
        </p:scale>
        <p:origin x="2264" y="1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63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200400" cy="6400800"/>
          </a:xfrm>
          <a:prstGeom prst="rect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1371600"/>
            <a:ext cx="2286000" cy="4114800"/>
          </a:xfrm>
          <a:prstGeom prst="rect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3474720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D2137"/>
                </a:solidFill>
              </a:rPr>
              <a:t>PLATEFORME DE DOSSIERS LOCATAIRES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PourAccord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Arrêtez de trier des documents.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Commencez à choisir.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64592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023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CC"/>
                </a:solidFill>
              </a:rPr>
              <a:t>Février 2026  ·  Partenariats Agences – Phase Pilote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pouraccord.com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2137"/>
                </a:solidFill>
              </a:rPr>
              <a:t>LE PROBLÈME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dossier locataire vous coûte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temps, des risques et de la conformité.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011680" cy="197842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64008" cy="19800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en moyenne</a:t>
            </a:r>
            <a:endParaRPr lang="fr-FR" sz="1300" dirty="0"/>
          </a:p>
        </p:txBody>
      </p:sp>
      <p:sp>
        <p:nvSpPr>
          <p:cNvPr id="9" name="Text 6"/>
          <p:cNvSpPr/>
          <p:nvPr/>
        </p:nvSpPr>
        <p:spPr>
          <a:xfrm>
            <a:off x="576072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dossier à trier, vérifier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classer manuellement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06040" y="1737360"/>
            <a:ext cx="2011680" cy="197842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1737360"/>
            <a:ext cx="64008" cy="19800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18745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7480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hétérogènes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24912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scans, photos : aucun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entre candidats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1737360"/>
            <a:ext cx="2011680" cy="197842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1737360"/>
            <a:ext cx="64008" cy="19800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8745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46320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Fraudes non détectées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873752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de paie ou pièces</a:t>
            </a:r>
            <a:endParaRPr lang="fr-FR" sz="1100" dirty="0"/>
          </a:p>
          <a:p>
            <a:pPr marL="0" indent="0">
              <a:buNone/>
            </a:pPr>
            <a:r>
              <a:rPr lang="fr-F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falsifiées de plus en plus difficiles à repérer</a:t>
            </a:r>
            <a:endParaRPr lang="fr-FR" sz="1100" dirty="0"/>
          </a:p>
        </p:txBody>
      </p:sp>
      <p:sp>
        <p:nvSpPr>
          <p:cNvPr id="20" name="Shape 15"/>
          <p:cNvSpPr/>
          <p:nvPr/>
        </p:nvSpPr>
        <p:spPr>
          <a:xfrm>
            <a:off x="6903720" y="1737360"/>
            <a:ext cx="2011680" cy="197842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03720" y="1737360"/>
            <a:ext cx="64008" cy="19800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87452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RGPD majeurs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022592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prolongé de données</a:t>
            </a:r>
            <a:r>
              <a:rPr lang="fr-FR" sz="1100" dirty="0"/>
              <a:t> </a:t>
            </a:r>
            <a:r>
              <a:rPr lang="fr-F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personnelles sensibles</a:t>
            </a:r>
            <a:endParaRPr lang="fr-FR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3772129"/>
            <a:ext cx="4224300" cy="1157963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Text 20"/>
          <p:cNvSpPr/>
          <p:nvPr/>
        </p:nvSpPr>
        <p:spPr>
          <a:xfrm>
            <a:off x="457200" y="4582620"/>
            <a:ext cx="41559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</a:rPr>
              <a:t>des dossiers falsifiés à Paris et petite couronne</a:t>
            </a:r>
            <a:endParaRPr lang="en-US" sz="1100" dirty="0">
              <a:solidFill>
                <a:srgbClr val="64748B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ABD4D30E-70F8-AF47-3A75-104860762A3E}"/>
              </a:ext>
            </a:extLst>
          </p:cNvPr>
          <p:cNvSpPr/>
          <p:nvPr/>
        </p:nvSpPr>
        <p:spPr>
          <a:xfrm>
            <a:off x="457201" y="3726409"/>
            <a:ext cx="4146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7200" dirty="0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0C5AD8D9-0CFC-C658-B105-27A3D334B3C5}"/>
              </a:ext>
            </a:extLst>
          </p:cNvPr>
          <p:cNvSpPr/>
          <p:nvPr/>
        </p:nvSpPr>
        <p:spPr>
          <a:xfrm>
            <a:off x="4754880" y="3782451"/>
            <a:ext cx="4160520" cy="1157963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85074E96-568E-5182-D511-A81D1BDF5520}"/>
              </a:ext>
            </a:extLst>
          </p:cNvPr>
          <p:cNvSpPr/>
          <p:nvPr/>
        </p:nvSpPr>
        <p:spPr>
          <a:xfrm>
            <a:off x="4754880" y="459294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i="1" dirty="0">
                <a:solidFill>
                  <a:srgbClr val="FFFFFF"/>
                </a:solidFill>
              </a:rPr>
              <a:t>en</a:t>
            </a:r>
            <a:r>
              <a:rPr lang="en-US" sz="1050" i="1" dirty="0">
                <a:solidFill>
                  <a:srgbClr val="FFFFFF"/>
                </a:solidFill>
              </a:rPr>
              <a:t> province en un an </a:t>
            </a:r>
            <a:endParaRPr lang="en-US" sz="105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9B7B89AD-5FAB-C566-FE4B-EB28EA734F81}"/>
              </a:ext>
            </a:extLst>
          </p:cNvPr>
          <p:cNvSpPr/>
          <p:nvPr/>
        </p:nvSpPr>
        <p:spPr>
          <a:xfrm>
            <a:off x="4754880" y="3736731"/>
            <a:ext cx="4160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7200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E9F83A48-57A0-8470-7235-42619F5A3A31}"/>
              </a:ext>
            </a:extLst>
          </p:cNvPr>
          <p:cNvSpPr txBox="1"/>
          <p:nvPr/>
        </p:nvSpPr>
        <p:spPr>
          <a:xfrm>
            <a:off x="6816852" y="4887801"/>
            <a:ext cx="2240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Source :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Imodirect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/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facilogi.com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, 2024</a:t>
            </a:r>
            <a:endParaRPr lang="fr-FR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3200400" cy="5143500"/>
          </a:xfrm>
          <a:prstGeom prst="rect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2137"/>
                </a:solidFill>
              </a:rPr>
              <a:t>LA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PourAccord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qui centralise, standardise et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pré-vérifie les dossiers locataires par IA.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01168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 son dossier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fois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Locataire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2697480"/>
            <a:ext cx="5486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2578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063240" y="2057400"/>
            <a:ext cx="2377440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06324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</a:rPr>
              <a:t>PourAccord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63240" y="2468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anti-fraude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32120" y="2578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897880" y="2194560"/>
            <a:ext cx="201168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2514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préqualifié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en 2 clics</a:t>
            </a:r>
            <a:endParaRPr lang="en-US" sz="11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03320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22960" y="36758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CC"/>
                </a:solidFill>
              </a:rPr>
              <a:t>Dossiers standardisés, vérifiés et scorés automatiquement</a:t>
            </a:r>
            <a:endParaRPr lang="en-US" sz="12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87368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22960" y="40599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CC"/>
                </a:solidFill>
              </a:rPr>
              <a:t>Zéro email volumineux, zéro scan illisible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71416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2960" y="444398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CC"/>
                </a:solidFill>
              </a:rPr>
              <a:t>Traçabilité complète : qui a consulté quoi, quand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2137"/>
                </a:solidFill>
              </a:rPr>
              <a:t>VOS BÉNÉFICES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raisons de rejoindre PourAccord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011680" cy="10058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630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874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68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8640" y="2944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économisées / dossier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66928" y="3273552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 le tri manuel. Chaque dossier arrive standardisé, complet et scoré automatiquement.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06040" y="137160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06040" y="1371600"/>
            <a:ext cx="2011680" cy="100584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192" y="14630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97480" y="1874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fraude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97480" y="2468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2697480" y="2944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falsifiés à Paris*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715768" y="3273552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multicouche : OCR, </a:t>
            </a:r>
            <a:r>
              <a:rPr lang="fr-FR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SIRET,NIR…, cohérence inter-documents.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*Imodirect, 2023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754880" y="137160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54880" y="1371600"/>
            <a:ext cx="2011680" cy="1005840"/>
          </a:xfrm>
          <a:prstGeom prst="rect">
            <a:avLst/>
          </a:prstGeom>
          <a:solidFill>
            <a:srgbClr val="1E6B7A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146304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46320" y="1874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846320" y="2468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K€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4846320" y="2944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amende CNIL dans l'immo*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864608" y="3273552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</a:t>
            </a:r>
            <a:r>
              <a:rPr lang="fr-FR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documents, logs d'accès, consentements gérés.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*CNIL vs Sergic, 2019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903720" y="137160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903720" y="1371600"/>
            <a:ext cx="2011680" cy="10058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1463040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95160" y="1874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Vivier qualifiés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995160" y="2468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+20 %</a:t>
            </a:r>
            <a:endParaRPr lang="en-US" sz="2600" dirty="0"/>
          </a:p>
        </p:txBody>
      </p:sp>
      <p:sp>
        <p:nvSpPr>
          <p:cNvPr id="31" name="Text 25"/>
          <p:cNvSpPr/>
          <p:nvPr/>
        </p:nvSpPr>
        <p:spPr>
          <a:xfrm>
            <a:off x="6995160" y="2944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hausse de la fraude/an*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7013448" y="3273552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Accédez uniquement à des candidats pré-vérifiés.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*Imodirect / facilogi.com, 2024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2137"/>
                </a:solidFill>
              </a:rPr>
              <a:t>FONCTIONNEMENT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pour vous, puissant pour vos candidats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88720" y="1234440"/>
            <a:ext cx="685800" cy="685800"/>
          </a:xfrm>
          <a:prstGeom prst="lin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2137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086100" y="2122691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0C4CC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locataire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son dossier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88920"/>
            <a:ext cx="210312" cy="210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27614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gratuite sur PourAccord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0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31729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r>
              <a:rPr lang="en-US" sz="11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1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assisté</a:t>
            </a:r>
            <a:r>
              <a:rPr lang="en-US" sz="11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ses documents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11880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358444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IA immédiate et scoring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023360"/>
            <a:ext cx="210312" cy="2103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399592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certifié en quelques minutes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023360" y="1234440"/>
            <a:ext cx="685800" cy="685800"/>
          </a:xfrm>
          <a:prstGeom prst="line">
            <a:avLst/>
          </a:prstGeom>
          <a:solidFill>
            <a:srgbClr val="00A896"/>
          </a:solidFill>
          <a:ln/>
        </p:spPr>
      </p:sp>
      <p:sp>
        <p:nvSpPr>
          <p:cNvPr id="18" name="Text 12"/>
          <p:cNvSpPr/>
          <p:nvPr/>
        </p:nvSpPr>
        <p:spPr>
          <a:xfrm>
            <a:off x="402336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2137"/>
                </a:solidFill>
              </a:rPr>
              <a:t>2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5920740" y="2122691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0C4CC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3291840" y="19659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partage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lien sécurisé</a:t>
            </a:r>
            <a:endParaRPr lang="en-US" sz="14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788920"/>
            <a:ext cx="210312" cy="2103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03320" y="27614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lien, valable 30 jours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200400"/>
            <a:ext cx="210312" cy="21031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703320" y="31729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total du locataire</a:t>
            </a:r>
            <a:endParaRPr lang="en-US" sz="11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611880"/>
            <a:ext cx="210312" cy="2103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703320" y="358444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à l'agence à l'envoi</a:t>
            </a:r>
            <a:endParaRPr lang="en-US" sz="11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023360"/>
            <a:ext cx="210312" cy="21031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703320" y="399592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des accès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6858000" y="1234440"/>
            <a:ext cx="685800" cy="685800"/>
          </a:xfrm>
          <a:prstGeom prst="line">
            <a:avLst/>
          </a:prstGeom>
          <a:solidFill>
            <a:srgbClr val="028090"/>
          </a:solidFill>
          <a:ln/>
        </p:spPr>
      </p:sp>
      <p:sp>
        <p:nvSpPr>
          <p:cNvPr id="30" name="Text 20"/>
          <p:cNvSpPr/>
          <p:nvPr/>
        </p:nvSpPr>
        <p:spPr>
          <a:xfrm>
            <a:off x="685800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2137"/>
                </a:solidFill>
              </a:rPr>
              <a:t>3</a:t>
            </a:r>
            <a:endParaRPr lang="en-US" sz="2400" dirty="0"/>
          </a:p>
        </p:txBody>
      </p:sp>
      <p:sp>
        <p:nvSpPr>
          <p:cNvPr id="31" name="Text 21"/>
          <p:cNvSpPr/>
          <p:nvPr/>
        </p:nvSpPr>
        <p:spPr>
          <a:xfrm>
            <a:off x="6126480" y="19659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accédez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dossier qualifié</a:t>
            </a:r>
            <a:endParaRPr lang="en-US" sz="14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788920"/>
            <a:ext cx="210312" cy="21031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537960" y="27614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global + points de vigilance</a:t>
            </a:r>
            <a:endParaRPr lang="en-US" sz="11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200400"/>
            <a:ext cx="210312" cy="21031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537960" y="31729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vérifiés et lisibles</a:t>
            </a:r>
            <a:endParaRPr lang="en-US" sz="11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611880"/>
            <a:ext cx="210312" cy="210312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537960" y="358444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synthèse automatique</a:t>
            </a:r>
            <a:endParaRPr lang="en-US" sz="1100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023360"/>
            <a:ext cx="210312" cy="210312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6537960" y="399592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rapide, responsabilité protégée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2137"/>
                </a:solidFill>
              </a:rPr>
              <a:t>NOTRE DIFFÉRENCIATEUR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IA anti-fraude à 7 niveaux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vos concurrents n'ont pas.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0" y="274320"/>
            <a:ext cx="2468880" cy="45720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0" y="502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CC"/>
                </a:solidFill>
              </a:rPr>
              <a:t>Score global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868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</a:rPr>
              <a:t>/ 100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29400" y="2331720"/>
            <a:ext cx="2011680" cy="45720"/>
          </a:xfrm>
          <a:prstGeom prst="rect">
            <a:avLst/>
          </a:prstGeom>
          <a:solidFill>
            <a:srgbClr val="028090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5420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C"/>
                </a:solidFill>
              </a:rPr>
              <a:t>Identité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2770632"/>
            <a:ext cx="2103120" cy="91440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2770632"/>
            <a:ext cx="1997964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5420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2C39A"/>
                </a:solidFill>
              </a:rPr>
              <a:t>95%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9992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C"/>
                </a:solidFill>
              </a:rPr>
              <a:t>Revenus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227832"/>
            <a:ext cx="2103120" cy="91440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3227832"/>
            <a:ext cx="1892808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9992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2C39A"/>
                </a:solidFill>
              </a:rPr>
              <a:t>90%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34564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C"/>
                </a:solidFill>
              </a:rPr>
              <a:t>Stabilité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3685032"/>
            <a:ext cx="2103120" cy="91440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3685032"/>
            <a:ext cx="1850746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34564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2C39A"/>
                </a:solidFill>
              </a:rPr>
              <a:t>88%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39136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C"/>
                </a:solidFill>
              </a:rPr>
              <a:t>Cohérence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4142232"/>
            <a:ext cx="2103120" cy="91440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492240" y="4142232"/>
            <a:ext cx="1976933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39136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2C39A"/>
                </a:solidFill>
              </a:rPr>
              <a:t>94%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1737360"/>
            <a:ext cx="384048" cy="384048"/>
          </a:xfrm>
          <a:prstGeom prst="lin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1737360"/>
            <a:ext cx="384048" cy="384048"/>
          </a:xfrm>
          <a:prstGeom prst="rect">
            <a:avLst/>
          </a:prstGeom>
          <a:solidFill>
            <a:srgbClr val="0C213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9A"/>
                </a:solidFill>
              </a:rPr>
              <a:t>1</a:t>
            </a:r>
            <a:endParaRPr lang="en-US" sz="1300" dirty="0">
              <a:solidFill>
                <a:srgbClr val="00C49A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896112" y="16916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Exhaustivité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6112" y="1965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Tous les documents requis sont présents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2487168"/>
            <a:ext cx="384048" cy="384048"/>
          </a:xfrm>
          <a:prstGeom prst="lin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487168"/>
            <a:ext cx="384048" cy="384048"/>
          </a:xfrm>
          <a:prstGeom prst="rect">
            <a:avLst/>
          </a:prstGeom>
          <a:solidFill>
            <a:srgbClr val="0C213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9A"/>
                </a:solidFill>
              </a:rPr>
              <a:t>2</a:t>
            </a:r>
            <a:endParaRPr lang="en-US" sz="1300" dirty="0">
              <a:solidFill>
                <a:srgbClr val="00C49A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896112" y="24414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Conformité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6112" y="27157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Format, lisibilité, résolution OCR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236976"/>
            <a:ext cx="384048" cy="384048"/>
          </a:xfrm>
          <a:prstGeom prst="lin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236976"/>
            <a:ext cx="384048" cy="384048"/>
          </a:xfrm>
          <a:prstGeom prst="rect">
            <a:avLst/>
          </a:prstGeom>
          <a:solidFill>
            <a:srgbClr val="0C213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9A"/>
                </a:solidFill>
              </a:rPr>
              <a:t>3</a:t>
            </a:r>
            <a:endParaRPr lang="en-US" sz="1300" dirty="0">
              <a:solidFill>
                <a:srgbClr val="00C49A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896112" y="31912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Validité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96112" y="34655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Ex : NIR, SIRET, MRZ… vérifiés algorithmiquement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986784"/>
            <a:ext cx="384048" cy="384048"/>
          </a:xfrm>
          <a:prstGeom prst="line">
            <a:avLst/>
          </a:prstGeom>
          <a:solidFill>
            <a:srgbClr val="028090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986784"/>
            <a:ext cx="384048" cy="384048"/>
          </a:xfrm>
          <a:prstGeom prst="rect">
            <a:avLst/>
          </a:prstGeom>
          <a:solidFill>
            <a:srgbClr val="0C213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9A"/>
                </a:solidFill>
              </a:rPr>
              <a:t>4</a:t>
            </a:r>
            <a:endParaRPr lang="en-US" sz="1300" dirty="0">
              <a:solidFill>
                <a:srgbClr val="00C49A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896112" y="39410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Authenticité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96112" y="42153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Ex : Existence entreprise via API INSEE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91840" y="1737360"/>
            <a:ext cx="384048" cy="384048"/>
          </a:xfrm>
          <a:prstGeom prst="line">
            <a:avLst/>
          </a:prstGeom>
          <a:solidFill>
            <a:srgbClr val="028090"/>
          </a:solidFill>
          <a:ln/>
        </p:spPr>
      </p:sp>
      <p:sp>
        <p:nvSpPr>
          <p:cNvPr id="43" name="Text 41"/>
          <p:cNvSpPr/>
          <p:nvPr/>
        </p:nvSpPr>
        <p:spPr>
          <a:xfrm>
            <a:off x="3291840" y="1737360"/>
            <a:ext cx="384048" cy="384048"/>
          </a:xfrm>
          <a:prstGeom prst="rect">
            <a:avLst/>
          </a:prstGeom>
          <a:solidFill>
            <a:srgbClr val="0C213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9A"/>
                </a:solidFill>
              </a:rPr>
              <a:t>5</a:t>
            </a:r>
            <a:endParaRPr lang="en-US" sz="1300" dirty="0">
              <a:solidFill>
                <a:srgbClr val="00C49A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3730752" y="16916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Cohérence intra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730752" y="1965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Données cohérentes au sein d'un document 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64748B"/>
                </a:solidFill>
              </a:rPr>
              <a:t>Ex : cohérence des montants de la fiche de salaire</a:t>
            </a:r>
            <a:endParaRPr lang="fr-FR" sz="800" dirty="0"/>
          </a:p>
        </p:txBody>
      </p:sp>
      <p:sp>
        <p:nvSpPr>
          <p:cNvPr id="46" name="Shape 44"/>
          <p:cNvSpPr/>
          <p:nvPr/>
        </p:nvSpPr>
        <p:spPr>
          <a:xfrm>
            <a:off x="3291840" y="2487168"/>
            <a:ext cx="384048" cy="384048"/>
          </a:xfrm>
          <a:prstGeom prst="line">
            <a:avLst/>
          </a:prstGeom>
          <a:solidFill>
            <a:srgbClr val="028090"/>
          </a:solidFill>
          <a:ln/>
        </p:spPr>
      </p:sp>
      <p:sp>
        <p:nvSpPr>
          <p:cNvPr id="47" name="Text 45"/>
          <p:cNvSpPr/>
          <p:nvPr/>
        </p:nvSpPr>
        <p:spPr>
          <a:xfrm>
            <a:off x="3291840" y="2487168"/>
            <a:ext cx="384048" cy="384048"/>
          </a:xfrm>
          <a:prstGeom prst="rect">
            <a:avLst/>
          </a:prstGeom>
          <a:solidFill>
            <a:srgbClr val="0C213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9A"/>
                </a:solidFill>
              </a:rPr>
              <a:t>6</a:t>
            </a:r>
            <a:endParaRPr lang="en-US" sz="1300" dirty="0">
              <a:solidFill>
                <a:srgbClr val="00C49A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3730752" y="24414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Cohérence inter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730752" y="27157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Cohérence croisée entre tous les documents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91840" y="3236976"/>
            <a:ext cx="384048" cy="384048"/>
          </a:xfrm>
          <a:prstGeom prst="line">
            <a:avLst/>
          </a:prstGeom>
          <a:solidFill>
            <a:srgbClr val="028090"/>
          </a:solidFill>
          <a:ln/>
        </p:spPr>
      </p:sp>
      <p:sp>
        <p:nvSpPr>
          <p:cNvPr id="51" name="Text 49"/>
          <p:cNvSpPr/>
          <p:nvPr/>
        </p:nvSpPr>
        <p:spPr>
          <a:xfrm>
            <a:off x="3291840" y="3236976"/>
            <a:ext cx="384048" cy="384048"/>
          </a:xfrm>
          <a:prstGeom prst="rect">
            <a:avLst/>
          </a:prstGeom>
          <a:solidFill>
            <a:srgbClr val="0C213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9A"/>
                </a:solidFill>
              </a:rPr>
              <a:t>7</a:t>
            </a:r>
            <a:endParaRPr lang="en-US" sz="1300" dirty="0">
              <a:solidFill>
                <a:srgbClr val="00C49A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3730752" y="31912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Intégrité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730752" y="34655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dirty="0">
                <a:solidFill>
                  <a:srgbClr val="64748B"/>
                </a:solidFill>
              </a:rPr>
              <a:t>Détection métadonnées et altérations suspectes des documents</a:t>
            </a:r>
            <a:endParaRPr lang="fr-FR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2137"/>
                </a:solidFill>
              </a:rPr>
              <a:t>LE MARCHÉ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locatif sous tension,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pour la digitalisation.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468880" cy="201168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91640"/>
            <a:ext cx="24688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~30 000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agences immobilières en France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CC"/>
                </a:solidFill>
              </a:rPr>
              <a:t>Source : FNAIM / imop.fr, 2025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691640"/>
            <a:ext cx="2468880" cy="201168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1691640"/>
            <a:ext cx="24688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8745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dossier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7472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contient un faux document (Paris)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CC"/>
                </a:solidFill>
              </a:rPr>
              <a:t>Source : Imodirect, 2023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468880" cy="201168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691640"/>
            <a:ext cx="24688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8745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400 000€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1792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d'amende RGPD dans l'immobilier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CC"/>
                </a:solidFill>
              </a:rPr>
              <a:t>Source : CNIL vs Sergic, 2019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1005840"/>
          </a:xfrm>
          <a:prstGeom prst="rect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La fraude a bondi de +20 % entre 2022 et 2023 en province, +15 % à Paris</a:t>
            </a:r>
            <a:r>
              <a:rPr lang="en-US" sz="1200" i="1" dirty="0">
                <a:solidFill>
                  <a:srgbClr val="B0C4CC"/>
                </a:solidFill>
              </a:rPr>
              <a:t>  —  Imodirect / facilogi.com, 2024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Gestion locative = 35 % du CA des professionnels de l'immobilier</a:t>
            </a:r>
            <a:r>
              <a:rPr lang="en-US" sz="1200" i="1" dirty="0">
                <a:solidFill>
                  <a:srgbClr val="B0C4CC"/>
                </a:solidFill>
              </a:rPr>
              <a:t>  —  LocService / modelesdebusinessplan.com, 2023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2137"/>
                </a:solidFill>
              </a:rPr>
              <a:t>PARTENARIAT PILOTE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Rejoignez les premières agences PourAccord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34747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obtenez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116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9933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Accès anticipé à la plateforme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2316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404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Influence directe sur les fonctionnalités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83464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28163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Accompagnement dédié à l'onboarding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4612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3227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Tarif préférentiel garanti </a:t>
            </a:r>
            <a:r>
              <a:rPr lang="en-US" sz="1200" dirty="0" err="1">
                <a:solidFill>
                  <a:srgbClr val="FFFFFF"/>
                </a:solidFill>
              </a:rPr>
              <a:t>à</a:t>
            </a:r>
            <a:r>
              <a:rPr lang="en-US" sz="1200" dirty="0">
                <a:solidFill>
                  <a:srgbClr val="FFFFFF"/>
                </a:solidFill>
              </a:rPr>
              <a:t> vie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0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14400" y="3639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Co-construction du produit avec l'équipe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069080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14400" y="40507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Statut de partenaire fondateur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4754880" y="1371600"/>
            <a:ext cx="4114800" cy="3474720"/>
          </a:xfrm>
          <a:prstGeom prst="rect">
            <a:avLst/>
          </a:prstGeom>
          <a:solidFill>
            <a:srgbClr val="F0F7F8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4754880" y="1371600"/>
            <a:ext cx="411480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3"/>
          <p:cNvSpPr/>
          <p:nvPr/>
        </p:nvSpPr>
        <p:spPr>
          <a:xfrm>
            <a:off x="4846320" y="1508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vous demandons</a:t>
            </a:r>
            <a:endParaRPr lang="en-US" sz="14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029968"/>
            <a:ext cx="256032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30368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Tester PourAccord sur vos vrais dossiers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32888"/>
            <a:ext cx="256032" cy="228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30368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Partager vos retours régulièrement</a:t>
            </a:r>
            <a:endParaRPr lang="en-US" sz="12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35808"/>
            <a:ext cx="256032" cy="2286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230368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Nous présenter à votre réseau si satisfaits</a:t>
            </a:r>
            <a:endParaRPr lang="en-US" sz="12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538728"/>
            <a:ext cx="256032" cy="2286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230368" y="3520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Témoignage client (optionnel)</a:t>
            </a:r>
            <a:endParaRPr lang="en-US" sz="1200" dirty="0"/>
          </a:p>
        </p:txBody>
      </p:sp>
      <p:sp>
        <p:nvSpPr>
          <p:cNvPr id="30" name="Shape 18"/>
          <p:cNvSpPr/>
          <p:nvPr/>
        </p:nvSpPr>
        <p:spPr>
          <a:xfrm>
            <a:off x="457200" y="4663440"/>
            <a:ext cx="8366760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1" name="Text 19"/>
          <p:cNvSpPr/>
          <p:nvPr/>
        </p:nvSpPr>
        <p:spPr>
          <a:xfrm>
            <a:off x="457200" y="4663440"/>
            <a:ext cx="8366760" cy="347472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→  Nous cherchons 10 agences pilotes pour co-construire le futur standard du dossier locataire.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2137"/>
                </a:solidFill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beta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4572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901952"/>
            <a:ext cx="256032" cy="256032"/>
          </a:xfrm>
          <a:prstGeom prst="lin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CC"/>
                </a:solidFill>
              </a:rPr>
              <a:t>Mois 1–3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011680" cy="2560320"/>
          </a:xfrm>
          <a:prstGeom prst="rect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331720"/>
            <a:ext cx="201168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4231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&amp; Beta Privée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8036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4672" y="286207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FFFFFF"/>
                </a:solidFill>
              </a:rPr>
              <a:t>Sécurisation</a:t>
            </a:r>
            <a:r>
              <a:rPr lang="en-US" sz="1050" dirty="0">
                <a:solidFill>
                  <a:srgbClr val="FFFFFF"/>
                </a:solidFill>
              </a:rPr>
              <a:t> Infrastructure</a:t>
            </a:r>
            <a:endParaRPr lang="en-US" sz="10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19272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672" y="330098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FFFFFF"/>
                </a:solidFill>
              </a:rPr>
              <a:t>Chargement</a:t>
            </a:r>
            <a:r>
              <a:rPr lang="en-US" sz="1050" dirty="0">
                <a:solidFill>
                  <a:srgbClr val="FFFFFF"/>
                </a:solidFill>
              </a:rPr>
              <a:t> &amp; analyse IA</a:t>
            </a:r>
            <a:endParaRPr lang="en-US" sz="10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58184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4672" y="3739896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Module agence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97096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4672" y="417880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RGPD complet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57200" y="4754880"/>
            <a:ext cx="201168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4"/>
          <p:cNvSpPr/>
          <p:nvPr/>
        </p:nvSpPr>
        <p:spPr>
          <a:xfrm>
            <a:off x="457200" y="4754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VOUS ÊTES ICI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429000" y="1901952"/>
            <a:ext cx="256032" cy="256032"/>
          </a:xfrm>
          <a:prstGeom prst="line">
            <a:avLst/>
          </a:prstGeom>
          <a:solidFill>
            <a:srgbClr val="00A896"/>
          </a:solidFill>
          <a:ln/>
        </p:spPr>
      </p:sp>
      <p:sp>
        <p:nvSpPr>
          <p:cNvPr id="22" name="Text 16"/>
          <p:cNvSpPr/>
          <p:nvPr/>
        </p:nvSpPr>
        <p:spPr>
          <a:xfrm>
            <a:off x="260604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CC"/>
                </a:solidFill>
              </a:rPr>
              <a:t>Mois 4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2606040" y="2331720"/>
            <a:ext cx="2011680" cy="2560320"/>
          </a:xfrm>
          <a:prstGeom prst="rect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2606040" y="2331720"/>
            <a:ext cx="2011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Text 19"/>
          <p:cNvSpPr/>
          <p:nvPr/>
        </p:nvSpPr>
        <p:spPr>
          <a:xfrm>
            <a:off x="2679192" y="24231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Public</a:t>
            </a:r>
            <a:endParaRPr lang="en-US" sz="12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2880360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953512" y="286207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C"/>
                </a:solidFill>
              </a:rPr>
              <a:t>10–20 agences pilotes</a:t>
            </a:r>
            <a:endParaRPr lang="en-US" sz="10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3319272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953512" y="330098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C"/>
                </a:solidFill>
              </a:rPr>
              <a:t>Onboarding optimisé</a:t>
            </a:r>
            <a:endParaRPr lang="en-US" sz="105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3758184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953512" y="3739896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C"/>
                </a:solidFill>
              </a:rPr>
              <a:t>Landing &amp; SEO</a:t>
            </a:r>
            <a:endParaRPr lang="en-US" sz="105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4197096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953512" y="417880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C"/>
                </a:solidFill>
              </a:rPr>
              <a:t>Campagne acquisition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5577840" y="1901952"/>
            <a:ext cx="256032" cy="256032"/>
          </a:xfrm>
          <a:prstGeom prst="line">
            <a:avLst/>
          </a:prstGeom>
          <a:solidFill>
            <a:srgbClr val="028090"/>
          </a:solidFill>
          <a:ln/>
        </p:spPr>
      </p:sp>
      <p:sp>
        <p:nvSpPr>
          <p:cNvPr id="35" name="Text 25"/>
          <p:cNvSpPr/>
          <p:nvPr/>
        </p:nvSpPr>
        <p:spPr>
          <a:xfrm>
            <a:off x="475488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CC"/>
                </a:solidFill>
              </a:rPr>
              <a:t>Mois 5–6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4754880" y="2331720"/>
            <a:ext cx="2011680" cy="2560320"/>
          </a:xfrm>
          <a:prstGeom prst="rect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37" name="Shape 27"/>
          <p:cNvSpPr/>
          <p:nvPr/>
        </p:nvSpPr>
        <p:spPr>
          <a:xfrm>
            <a:off x="4754880" y="2331720"/>
            <a:ext cx="20116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28"/>
          <p:cNvSpPr/>
          <p:nvPr/>
        </p:nvSpPr>
        <p:spPr>
          <a:xfrm>
            <a:off x="4828032" y="24231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Premium</a:t>
            </a:r>
            <a:endParaRPr lang="en-US" sz="12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880360"/>
            <a:ext cx="182880" cy="18288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102352" y="286207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C"/>
                </a:solidFill>
              </a:rPr>
              <a:t>Recherche opt-in</a:t>
            </a:r>
            <a:endParaRPr lang="en-US" sz="105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319272"/>
            <a:ext cx="182880" cy="18288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102352" y="330098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C"/>
                </a:solidFill>
              </a:rPr>
              <a:t>Garants intégrés</a:t>
            </a:r>
            <a:endParaRPr lang="en-US" sz="1050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758184"/>
            <a:ext cx="182880" cy="18288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5102352" y="3739896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C"/>
                </a:solidFill>
              </a:rPr>
              <a:t>App mobile (PWA)</a:t>
            </a:r>
            <a:endParaRPr lang="en-US" sz="105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197096"/>
            <a:ext cx="182880" cy="182880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5102352" y="417880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C"/>
                </a:solidFill>
              </a:rPr>
              <a:t>Matching IA locataires</a:t>
            </a:r>
            <a:endParaRPr lang="en-US" sz="1050" dirty="0"/>
          </a:p>
        </p:txBody>
      </p:sp>
      <p:sp>
        <p:nvSpPr>
          <p:cNvPr id="47" name="Shape 33"/>
          <p:cNvSpPr/>
          <p:nvPr/>
        </p:nvSpPr>
        <p:spPr>
          <a:xfrm>
            <a:off x="7726680" y="1901952"/>
            <a:ext cx="256032" cy="256032"/>
          </a:xfrm>
          <a:prstGeom prst="line">
            <a:avLst/>
          </a:prstGeom>
          <a:solidFill>
            <a:srgbClr val="1E6B7A"/>
          </a:solidFill>
          <a:ln/>
        </p:spPr>
      </p:sp>
      <p:sp>
        <p:nvSpPr>
          <p:cNvPr id="48" name="Text 34"/>
          <p:cNvSpPr/>
          <p:nvPr/>
        </p:nvSpPr>
        <p:spPr>
          <a:xfrm>
            <a:off x="690372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CC"/>
                </a:solidFill>
              </a:rPr>
              <a:t>Mois 7–12</a:t>
            </a:r>
            <a:endParaRPr lang="en-US" sz="1000" dirty="0"/>
          </a:p>
        </p:txBody>
      </p:sp>
      <p:sp>
        <p:nvSpPr>
          <p:cNvPr id="49" name="Shape 35"/>
          <p:cNvSpPr/>
          <p:nvPr/>
        </p:nvSpPr>
        <p:spPr>
          <a:xfrm>
            <a:off x="6903720" y="2331720"/>
            <a:ext cx="2011680" cy="2560320"/>
          </a:xfrm>
          <a:prstGeom prst="rect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50" name="Shape 36"/>
          <p:cNvSpPr/>
          <p:nvPr/>
        </p:nvSpPr>
        <p:spPr>
          <a:xfrm>
            <a:off x="6903720" y="2331720"/>
            <a:ext cx="2011680" cy="54864"/>
          </a:xfrm>
          <a:prstGeom prst="rect">
            <a:avLst/>
          </a:prstGeom>
          <a:solidFill>
            <a:srgbClr val="1E6B7A"/>
          </a:solidFill>
          <a:ln/>
        </p:spPr>
      </p:sp>
      <p:sp>
        <p:nvSpPr>
          <p:cNvPr id="51" name="Text 37"/>
          <p:cNvSpPr/>
          <p:nvPr/>
        </p:nvSpPr>
        <p:spPr>
          <a:xfrm>
            <a:off x="6976872" y="24231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Expansion</a:t>
            </a:r>
            <a:endParaRPr lang="en-US" sz="1200" dirty="0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2880360"/>
            <a:ext cx="182880" cy="182880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7251192" y="286207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C"/>
                </a:solidFill>
              </a:rPr>
              <a:t>Banques &amp; assurances</a:t>
            </a:r>
            <a:endParaRPr lang="en-US" sz="1050" dirty="0"/>
          </a:p>
        </p:txBody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3319272"/>
            <a:ext cx="182880" cy="182880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7251192" y="330098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C"/>
                </a:solidFill>
              </a:rPr>
              <a:t>Module RH</a:t>
            </a:r>
            <a:endParaRPr lang="en-US" sz="1050" dirty="0"/>
          </a:p>
        </p:txBody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3758184"/>
            <a:ext cx="182880" cy="182880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7251192" y="3739896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C"/>
                </a:solidFill>
              </a:rPr>
              <a:t>API partenaires</a:t>
            </a:r>
            <a:endParaRPr lang="en-US" sz="1050" dirty="0"/>
          </a:p>
        </p:txBody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197096"/>
            <a:ext cx="182880" cy="182880"/>
          </a:xfrm>
          <a:prstGeom prst="rect">
            <a:avLst/>
          </a:prstGeom>
        </p:spPr>
      </p:pic>
      <p:sp>
        <p:nvSpPr>
          <p:cNvPr id="59" name="Text 41"/>
          <p:cNvSpPr/>
          <p:nvPr/>
        </p:nvSpPr>
        <p:spPr>
          <a:xfrm>
            <a:off x="7251192" y="417880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C"/>
                </a:solidFill>
              </a:rPr>
              <a:t>International</a:t>
            </a:r>
            <a:endParaRPr lang="en-US" sz="1050" dirty="0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702FA9E2-417D-9CCC-3C3B-1F7A7A9B7A8F}"/>
              </a:ext>
            </a:extLst>
          </p:cNvPr>
          <p:cNvSpPr txBox="1"/>
          <p:nvPr/>
        </p:nvSpPr>
        <p:spPr>
          <a:xfrm rot="19656771">
            <a:off x="865830" y="1228300"/>
            <a:ext cx="699172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800" dirty="0">
                <a:solidFill>
                  <a:schemeClr val="bg1"/>
                </a:solidFill>
              </a:rPr>
              <a:t>A REVOIR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transformer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gestion locative 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C4CC"/>
                </a:solidFill>
              </a:rPr>
              <a:t>Rejoignez les agences pilotes PourAccord et co-construisez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B0C4CC"/>
                </a:solidFill>
              </a:rPr>
              <a:t>le nouveau standard du dossier locataire en France.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0" y="3108960"/>
            <a:ext cx="22860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</a:rPr>
              <a:t>Demander une démo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3108960"/>
            <a:ext cx="2286000" cy="64008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Devenir partenaire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4023360"/>
            <a:ext cx="320040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429000" y="40416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contact@pouraccord.com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pouraccord.com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5289</TotalTime>
  <Words>790</Words>
  <Application>Microsoft Macintosh PowerPoint</Application>
  <PresentationFormat>Affichage à l'écran (16:9)</PresentationFormat>
  <Paragraphs>203</Paragraphs>
  <Slides>10</Slides>
  <Notes>10</Notes>
  <HiddenSlides>1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PourAccord – Pitch Deck</dc:title>
  <dc:subject>PptxGenJS Presentation</dc:subject>
  <dc:creator>PourAccord</dc:creator>
  <cp:lastModifiedBy>Frédéric DETEZ</cp:lastModifiedBy>
  <cp:revision>8</cp:revision>
  <dcterms:created xsi:type="dcterms:W3CDTF">2026-02-17T16:05:46Z</dcterms:created>
  <dcterms:modified xsi:type="dcterms:W3CDTF">2026-03-04T07:40:12Z</dcterms:modified>
</cp:coreProperties>
</file>