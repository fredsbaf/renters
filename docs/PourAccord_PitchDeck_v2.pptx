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C49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352"/>
    <p:restoredTop sz="94610"/>
  </p:normalViewPr>
  <p:slideViewPr>
    <p:cSldViewPr snapToGrid="0" snapToObjects="1">
      <p:cViewPr varScale="1">
        <p:scale>
          <a:sx n="159" d="100"/>
          <a:sy n="159" d="100"/>
        </p:scale>
        <p:origin x="184" y="3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6463983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213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0" y="-457200"/>
            <a:ext cx="3200400" cy="6400800"/>
          </a:xfrm>
          <a:prstGeom prst="rect">
            <a:avLst/>
          </a:prstGeom>
          <a:solidFill>
            <a:srgbClr val="028090">
              <a:alpha val="1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772400" y="1371600"/>
            <a:ext cx="2286000" cy="4114800"/>
          </a:xfrm>
          <a:prstGeom prst="rect">
            <a:avLst/>
          </a:prstGeom>
          <a:solidFill>
            <a:srgbClr val="02C39A">
              <a:alpha val="12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097280"/>
            <a:ext cx="3474720" cy="292608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097280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kern="0" spc="150" dirty="0">
                <a:solidFill>
                  <a:srgbClr val="0D2137"/>
                </a:solidFill>
              </a:rPr>
              <a:t>PLATEFORME DE DOSSIERS LOCATAIRES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48640" y="1508760"/>
            <a:ext cx="64008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PourAccord</a:t>
            </a:r>
            <a:endParaRPr lang="en-US" sz="6000" dirty="0"/>
          </a:p>
        </p:txBody>
      </p:sp>
      <p:sp>
        <p:nvSpPr>
          <p:cNvPr id="7" name="Text 5"/>
          <p:cNvSpPr/>
          <p:nvPr/>
        </p:nvSpPr>
        <p:spPr>
          <a:xfrm>
            <a:off x="548640" y="2743200"/>
            <a:ext cx="5943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B0C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Arrêtez de trier des documents.</a:t>
            </a:r>
            <a:endParaRPr lang="en-US" sz="2200" dirty="0"/>
          </a:p>
          <a:p>
            <a:pPr marL="0" indent="0">
              <a:buNone/>
            </a:pPr>
            <a:r>
              <a:rPr lang="en-US" sz="2200" dirty="0">
                <a:solidFill>
                  <a:srgbClr val="B0C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Commencez à choisir.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548640" y="3794760"/>
            <a:ext cx="1645920" cy="45720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4023360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B0C4CC"/>
                </a:solidFill>
              </a:rPr>
              <a:t>Février 2026  ·  Partenariats Agences – Phase Pilote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11" name="Text 9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381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FFFFFF"/>
                </a:solidFill>
              </a:rPr>
              <a:t>pouraccord.com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F7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2011680" cy="292608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kern="0" spc="200" dirty="0">
                <a:solidFill>
                  <a:srgbClr val="0D2137"/>
                </a:solidFill>
              </a:rPr>
              <a:t>LE PROBLÈME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64008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Chaque dossier locataire vous coûte</a:t>
            </a:r>
            <a:endParaRPr lang="en-US" sz="2200" dirty="0"/>
          </a:p>
          <a:p>
            <a:pPr marL="0" indent="0">
              <a:buNone/>
            </a:pPr>
            <a:r>
              <a:rPr lang="en-US" sz="220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 temps, des risques et de la conformité.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57200" y="1737360"/>
            <a:ext cx="2011680" cy="28346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737360"/>
            <a:ext cx="64008" cy="2834640"/>
          </a:xfrm>
          <a:prstGeom prst="rect">
            <a:avLst/>
          </a:prstGeom>
          <a:solidFill>
            <a:srgbClr val="028090"/>
          </a:solidFill>
          <a:ln/>
        </p:spPr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874520"/>
            <a:ext cx="411480" cy="4114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548640" y="2331720"/>
            <a:ext cx="1828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min minimum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76072" y="2743200"/>
            <a:ext cx="1828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 dossier à trier, vérifier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 classer manuellement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2606040" y="1737360"/>
            <a:ext cx="2011680" cy="28346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2606040" y="1737360"/>
            <a:ext cx="64008" cy="2834640"/>
          </a:xfrm>
          <a:prstGeom prst="rect">
            <a:avLst/>
          </a:prstGeom>
          <a:solidFill>
            <a:srgbClr val="028090"/>
          </a:solidFill>
          <a:ln/>
        </p:spPr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88920" y="1874520"/>
            <a:ext cx="411480" cy="41148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2697480" y="2331720"/>
            <a:ext cx="1828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Formats hétérogènes</a:t>
            </a:r>
            <a:endParaRPr lang="en-US" sz="1300" dirty="0"/>
          </a:p>
        </p:txBody>
      </p:sp>
      <p:sp>
        <p:nvSpPr>
          <p:cNvPr id="14" name="Text 10"/>
          <p:cNvSpPr/>
          <p:nvPr/>
        </p:nvSpPr>
        <p:spPr>
          <a:xfrm>
            <a:off x="2724912" y="2743200"/>
            <a:ext cx="1828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PDFs, scans, photos : aucun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 entre candidats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4754880" y="1737360"/>
            <a:ext cx="2011680" cy="28346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4754880" y="1737360"/>
            <a:ext cx="64008" cy="2834640"/>
          </a:xfrm>
          <a:prstGeom prst="rect">
            <a:avLst/>
          </a:prstGeom>
          <a:solidFill>
            <a:srgbClr val="028090"/>
          </a:solidFill>
          <a:ln/>
        </p:spPr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37760" y="1874520"/>
            <a:ext cx="411480" cy="41148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4846320" y="2331720"/>
            <a:ext cx="1828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Fraudes non détectées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4873752" y="2743200"/>
            <a:ext cx="1828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Fiches de paie ou pièces</a:t>
            </a:r>
            <a:endParaRPr lang="en-US" sz="1100" dirty="0"/>
          </a:p>
          <a:p>
            <a:pPr marL="0" indent="0">
              <a:buNone/>
            </a:pPr>
            <a:r>
              <a:rPr lang="en-US" sz="110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falsifiées</a:t>
            </a: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plus </a:t>
            </a:r>
            <a:r>
              <a:rPr lang="en-US" sz="110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</a:t>
            </a: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plus </a:t>
            </a:r>
            <a:r>
              <a:rPr lang="en-US" sz="110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difficiles</a:t>
            </a: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à repérer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6903720" y="1737360"/>
            <a:ext cx="2011680" cy="28346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6903720" y="1737360"/>
            <a:ext cx="64008" cy="2834640"/>
          </a:xfrm>
          <a:prstGeom prst="rect">
            <a:avLst/>
          </a:prstGeom>
          <a:solidFill>
            <a:srgbClr val="028090"/>
          </a:solidFill>
          <a:ln/>
        </p:spPr>
      </p:sp>
      <p:pic>
        <p:nvPicPr>
          <p:cNvPr id="22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86600" y="1874520"/>
            <a:ext cx="411480" cy="411480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6995160" y="2331720"/>
            <a:ext cx="1828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Risques RGPD majeurs</a:t>
            </a:r>
            <a:endParaRPr lang="en-US" sz="1300" dirty="0"/>
          </a:p>
        </p:txBody>
      </p:sp>
      <p:sp>
        <p:nvSpPr>
          <p:cNvPr id="24" name="Text 18"/>
          <p:cNvSpPr/>
          <p:nvPr/>
        </p:nvSpPr>
        <p:spPr>
          <a:xfrm>
            <a:off x="7022592" y="2743200"/>
            <a:ext cx="1828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Stockage prolongé de données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personnelles sensibles</a:t>
            </a:r>
            <a:endParaRPr lang="en-US" sz="1100" dirty="0"/>
          </a:p>
        </p:txBody>
      </p:sp>
      <p:sp>
        <p:nvSpPr>
          <p:cNvPr id="25" name="Shape 19"/>
          <p:cNvSpPr/>
          <p:nvPr/>
        </p:nvSpPr>
        <p:spPr>
          <a:xfrm>
            <a:off x="457200" y="4663440"/>
            <a:ext cx="8229600" cy="347472"/>
          </a:xfrm>
          <a:prstGeom prst="rect">
            <a:avLst/>
          </a:prstGeom>
          <a:solidFill>
            <a:srgbClr val="0D2137"/>
          </a:solidFill>
          <a:ln/>
        </p:spPr>
      </p:sp>
      <p:sp>
        <p:nvSpPr>
          <p:cNvPr id="26" name="Text 20"/>
          <p:cNvSpPr/>
          <p:nvPr/>
        </p:nvSpPr>
        <p:spPr>
          <a:xfrm>
            <a:off x="457200" y="4663440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i="1" dirty="0">
                <a:solidFill>
                  <a:srgbClr val="FFFFFF"/>
                </a:solidFill>
              </a:rPr>
              <a:t>23 % des dossiers falsifiés à Paris et petite couronne · +20 % en province en un an   —   Source : Imodirect / facilogi.com, 2024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213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217920" y="0"/>
            <a:ext cx="3200400" cy="5143500"/>
          </a:xfrm>
          <a:prstGeom prst="rect">
            <a:avLst/>
          </a:prstGeom>
          <a:solidFill>
            <a:srgbClr val="028090">
              <a:alpha val="1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256032"/>
            <a:ext cx="2011680" cy="292608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2560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kern="0" spc="200" dirty="0">
                <a:solidFill>
                  <a:srgbClr val="0D2137"/>
                </a:solidFill>
              </a:rPr>
              <a:t>LA SOLUTION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57200" y="594360"/>
            <a:ext cx="54864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PourAccord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457200" y="1261872"/>
            <a:ext cx="54864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B0C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plateforme qui centralise, standardise et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B0C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pré-vérifie les dossiers locataires par IA.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2194560"/>
            <a:ext cx="2011680" cy="109728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2194560"/>
            <a:ext cx="20116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Locataire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Constitue son dossier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seule fois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224028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Locataire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514600" y="2697480"/>
            <a:ext cx="548640" cy="73152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11" name="Text 9"/>
          <p:cNvSpPr/>
          <p:nvPr/>
        </p:nvSpPr>
        <p:spPr>
          <a:xfrm>
            <a:off x="2651760" y="2578608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2C39A"/>
                </a:solidFill>
              </a:rPr>
              <a:t>→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3063240" y="2057400"/>
            <a:ext cx="2377440" cy="1371600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13" name="Text 11"/>
          <p:cNvSpPr/>
          <p:nvPr/>
        </p:nvSpPr>
        <p:spPr>
          <a:xfrm>
            <a:off x="3063240" y="214884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D2137"/>
                </a:solidFill>
              </a:rPr>
              <a:t>PourAccord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063240" y="2468880"/>
            <a:ext cx="23774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anti-fraude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Standardisation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Conformité RGPD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5532120" y="2578608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2C39A"/>
                </a:solidFill>
              </a:rPr>
              <a:t>→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5897880" y="2194560"/>
            <a:ext cx="2011680" cy="109728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17" name="Text 15"/>
          <p:cNvSpPr/>
          <p:nvPr/>
        </p:nvSpPr>
        <p:spPr>
          <a:xfrm>
            <a:off x="5897880" y="224028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Agence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897880" y="251460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Dossier préqualifié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prêt en 2 clics</a:t>
            </a:r>
            <a:endParaRPr lang="en-US" sz="1100" dirty="0"/>
          </a:p>
        </p:txBody>
      </p:sp>
      <p:pic>
        <p:nvPicPr>
          <p:cNvPr id="1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3703320"/>
            <a:ext cx="256032" cy="256032"/>
          </a:xfrm>
          <a:prstGeom prst="rect">
            <a:avLst/>
          </a:prstGeom>
        </p:spPr>
      </p:pic>
      <p:sp>
        <p:nvSpPr>
          <p:cNvPr id="20" name="Text 17"/>
          <p:cNvSpPr/>
          <p:nvPr/>
        </p:nvSpPr>
        <p:spPr>
          <a:xfrm>
            <a:off x="822960" y="3675888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B0C4CC"/>
                </a:solidFill>
              </a:rPr>
              <a:t>Dossiers standardisés, vérifiés et scorés automatiquement</a:t>
            </a:r>
            <a:endParaRPr lang="en-US" sz="1200" dirty="0"/>
          </a:p>
        </p:txBody>
      </p:sp>
      <p:pic>
        <p:nvPicPr>
          <p:cNvPr id="21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4087368"/>
            <a:ext cx="256032" cy="256032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22960" y="4059936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B0C4CC"/>
                </a:solidFill>
              </a:rPr>
              <a:t>Zéro email volumineux, zéro scan illisible</a:t>
            </a:r>
            <a:endParaRPr lang="en-US" sz="1200" dirty="0"/>
          </a:p>
        </p:txBody>
      </p:sp>
      <p:pic>
        <p:nvPicPr>
          <p:cNvPr id="23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4471416"/>
            <a:ext cx="256032" cy="256032"/>
          </a:xfrm>
          <a:prstGeom prst="rect">
            <a:avLst/>
          </a:prstGeom>
        </p:spPr>
      </p:pic>
      <p:sp>
        <p:nvSpPr>
          <p:cNvPr id="24" name="Text 19"/>
          <p:cNvSpPr/>
          <p:nvPr/>
        </p:nvSpPr>
        <p:spPr>
          <a:xfrm>
            <a:off x="822960" y="4443984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B0C4CC"/>
                </a:solidFill>
              </a:rPr>
              <a:t>Traçabilité complète : qui a consulté quoi, quand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0F7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56032"/>
            <a:ext cx="2011680" cy="292608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560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kern="0" spc="200" dirty="0">
                <a:solidFill>
                  <a:srgbClr val="0D2137"/>
                </a:solidFill>
              </a:rPr>
              <a:t>VOS BÉNÉFICES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621792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raisons de rejoindre PourAccord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1371600"/>
            <a:ext cx="2011680" cy="3474720"/>
          </a:xfrm>
          <a:prstGeom prst="rect">
            <a:avLst/>
          </a:prstGeom>
          <a:solidFill>
            <a:srgbClr val="FFFFFF"/>
          </a:solidFill>
          <a:ln/>
          <a:effectLst>
            <a:outerShdw blurRad="127000" dist="38100" dir="8100000" algn="bl" rotWithShape="0">
              <a:srgbClr val="000000">
                <a:alpha val="9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371600"/>
            <a:ext cx="2011680" cy="1005840"/>
          </a:xfrm>
          <a:prstGeom prst="rect">
            <a:avLst/>
          </a:prstGeom>
          <a:solidFill>
            <a:srgbClr val="028090"/>
          </a:solidFill>
          <a:ln/>
        </p:spPr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1463040"/>
            <a:ext cx="411480" cy="4114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548640" y="1874520"/>
            <a:ext cx="1828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Gain de temps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48640" y="246888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~30 min</a:t>
            </a:r>
            <a:endParaRPr lang="en-US" sz="2600" dirty="0"/>
          </a:p>
        </p:txBody>
      </p:sp>
      <p:sp>
        <p:nvSpPr>
          <p:cNvPr id="10" name="Text 7"/>
          <p:cNvSpPr/>
          <p:nvPr/>
        </p:nvSpPr>
        <p:spPr>
          <a:xfrm>
            <a:off x="548640" y="294436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économisées / dossier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566928" y="3273552"/>
            <a:ext cx="1810512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Fini le tri manuel. Chaque dossier arrive standardisé, complet et scoré automatiquement.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2606040" y="1371600"/>
            <a:ext cx="2011680" cy="3474720"/>
          </a:xfrm>
          <a:prstGeom prst="rect">
            <a:avLst/>
          </a:prstGeom>
          <a:solidFill>
            <a:srgbClr val="FFFFFF"/>
          </a:solidFill>
          <a:ln/>
          <a:effectLst>
            <a:outerShdw blurRad="127000" dist="38100" dir="8100000" algn="bl" rotWithShape="0">
              <a:srgbClr val="000000">
                <a:alpha val="9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2606040" y="1371600"/>
            <a:ext cx="2011680" cy="1005840"/>
          </a:xfrm>
          <a:prstGeom prst="rect">
            <a:avLst/>
          </a:prstGeom>
          <a:solidFill>
            <a:srgbClr val="00A896"/>
          </a:solidFill>
          <a:ln/>
        </p:spPr>
      </p:sp>
      <p:pic>
        <p:nvPicPr>
          <p:cNvPr id="1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79192" y="1463040"/>
            <a:ext cx="411480" cy="41148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2697480" y="1874520"/>
            <a:ext cx="1828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Réduction fraude</a:t>
            </a:r>
            <a:endParaRPr lang="en-US" sz="1300" dirty="0"/>
          </a:p>
        </p:txBody>
      </p:sp>
      <p:sp>
        <p:nvSpPr>
          <p:cNvPr id="16" name="Text 12"/>
          <p:cNvSpPr/>
          <p:nvPr/>
        </p:nvSpPr>
        <p:spPr>
          <a:xfrm>
            <a:off x="2697480" y="246888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1/5</a:t>
            </a:r>
            <a:endParaRPr lang="en-US" sz="2600" dirty="0"/>
          </a:p>
        </p:txBody>
      </p:sp>
      <p:sp>
        <p:nvSpPr>
          <p:cNvPr id="17" name="Text 13"/>
          <p:cNvSpPr/>
          <p:nvPr/>
        </p:nvSpPr>
        <p:spPr>
          <a:xfrm>
            <a:off x="2697480" y="294436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dossiers falsifiés à Paris*</a:t>
            </a:r>
            <a:endParaRPr lang="en-US" sz="950" dirty="0"/>
          </a:p>
        </p:txBody>
      </p:sp>
      <p:sp>
        <p:nvSpPr>
          <p:cNvPr id="18" name="Text 14"/>
          <p:cNvSpPr/>
          <p:nvPr/>
        </p:nvSpPr>
        <p:spPr>
          <a:xfrm>
            <a:off x="2715768" y="3273552"/>
            <a:ext cx="1810512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multicouche : OCR, </a:t>
            </a:r>
            <a:r>
              <a:rPr lang="fr-FR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vérification</a:t>
            </a: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SIRET,NIR…, cohérence inter-documents.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*Imodirect, 2023</a:t>
            </a:r>
            <a:endParaRPr lang="en-US" sz="1050" dirty="0"/>
          </a:p>
        </p:txBody>
      </p:sp>
      <p:sp>
        <p:nvSpPr>
          <p:cNvPr id="19" name="Shape 15"/>
          <p:cNvSpPr/>
          <p:nvPr/>
        </p:nvSpPr>
        <p:spPr>
          <a:xfrm>
            <a:off x="4754880" y="1371600"/>
            <a:ext cx="2011680" cy="3474720"/>
          </a:xfrm>
          <a:prstGeom prst="rect">
            <a:avLst/>
          </a:prstGeom>
          <a:solidFill>
            <a:srgbClr val="FFFFFF"/>
          </a:solidFill>
          <a:ln/>
          <a:effectLst>
            <a:outerShdw blurRad="127000" dist="38100" dir="8100000" algn="bl" rotWithShape="0">
              <a:srgbClr val="000000">
                <a:alpha val="9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4754880" y="1371600"/>
            <a:ext cx="2011680" cy="1005840"/>
          </a:xfrm>
          <a:prstGeom prst="rect">
            <a:avLst/>
          </a:prstGeom>
          <a:solidFill>
            <a:srgbClr val="1E6B7A"/>
          </a:solidFill>
          <a:ln/>
        </p:spPr>
      </p:sp>
      <p:pic>
        <p:nvPicPr>
          <p:cNvPr id="2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28032" y="1463040"/>
            <a:ext cx="411480" cy="411480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4846320" y="1874520"/>
            <a:ext cx="1828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Conformité RGPD</a:t>
            </a:r>
            <a:endParaRPr lang="en-US" sz="1300" dirty="0"/>
          </a:p>
        </p:txBody>
      </p:sp>
      <p:sp>
        <p:nvSpPr>
          <p:cNvPr id="23" name="Text 18"/>
          <p:cNvSpPr/>
          <p:nvPr/>
        </p:nvSpPr>
        <p:spPr>
          <a:xfrm>
            <a:off x="4846320" y="246888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E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400 K€</a:t>
            </a:r>
            <a:endParaRPr lang="en-US" sz="2600" dirty="0"/>
          </a:p>
        </p:txBody>
      </p:sp>
      <p:sp>
        <p:nvSpPr>
          <p:cNvPr id="24" name="Text 19"/>
          <p:cNvSpPr/>
          <p:nvPr/>
        </p:nvSpPr>
        <p:spPr>
          <a:xfrm>
            <a:off x="4846320" y="294436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amende CNIL dans l'immo*</a:t>
            </a:r>
            <a:endParaRPr lang="en-US" sz="950" dirty="0"/>
          </a:p>
        </p:txBody>
      </p:sp>
      <p:sp>
        <p:nvSpPr>
          <p:cNvPr id="25" name="Text 20"/>
          <p:cNvSpPr/>
          <p:nvPr/>
        </p:nvSpPr>
        <p:spPr>
          <a:xfrm>
            <a:off x="4864608" y="3273552"/>
            <a:ext cx="1810512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Suppression </a:t>
            </a:r>
            <a:r>
              <a:rPr lang="en-US" sz="105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automatique</a:t>
            </a: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des documents, logs d'accès, consentements gérés.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*CNIL vs Sergic, 2019</a:t>
            </a:r>
            <a:endParaRPr lang="en-US" sz="1050" dirty="0"/>
          </a:p>
        </p:txBody>
      </p:sp>
      <p:sp>
        <p:nvSpPr>
          <p:cNvPr id="26" name="Shape 21"/>
          <p:cNvSpPr/>
          <p:nvPr/>
        </p:nvSpPr>
        <p:spPr>
          <a:xfrm>
            <a:off x="6903720" y="1371600"/>
            <a:ext cx="2011680" cy="3474720"/>
          </a:xfrm>
          <a:prstGeom prst="rect">
            <a:avLst/>
          </a:prstGeom>
          <a:solidFill>
            <a:srgbClr val="FFFFFF"/>
          </a:solidFill>
          <a:ln/>
          <a:effectLst>
            <a:outerShdw blurRad="127000" dist="38100" dir="8100000" algn="bl" rotWithShape="0">
              <a:srgbClr val="000000">
                <a:alpha val="9000"/>
              </a:srgbClr>
            </a:outerShdw>
          </a:effectLst>
        </p:spPr>
      </p:sp>
      <p:sp>
        <p:nvSpPr>
          <p:cNvPr id="27" name="Shape 22"/>
          <p:cNvSpPr/>
          <p:nvPr/>
        </p:nvSpPr>
        <p:spPr>
          <a:xfrm>
            <a:off x="6903720" y="1371600"/>
            <a:ext cx="2011680" cy="1005840"/>
          </a:xfrm>
          <a:prstGeom prst="rect">
            <a:avLst/>
          </a:prstGeom>
          <a:solidFill>
            <a:srgbClr val="02C39A"/>
          </a:solidFill>
          <a:ln/>
        </p:spPr>
      </p:sp>
      <p:pic>
        <p:nvPicPr>
          <p:cNvPr id="28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76872" y="1463040"/>
            <a:ext cx="411480" cy="411480"/>
          </a:xfrm>
          <a:prstGeom prst="rect">
            <a:avLst/>
          </a:prstGeom>
        </p:spPr>
      </p:pic>
      <p:sp>
        <p:nvSpPr>
          <p:cNvPr id="29" name="Text 23"/>
          <p:cNvSpPr/>
          <p:nvPr/>
        </p:nvSpPr>
        <p:spPr>
          <a:xfrm>
            <a:off x="6995160" y="1874520"/>
            <a:ext cx="1828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Vivier qualifiés</a:t>
            </a:r>
            <a:endParaRPr lang="en-US" sz="1300" dirty="0"/>
          </a:p>
        </p:txBody>
      </p:sp>
      <p:sp>
        <p:nvSpPr>
          <p:cNvPr id="30" name="Text 24"/>
          <p:cNvSpPr/>
          <p:nvPr/>
        </p:nvSpPr>
        <p:spPr>
          <a:xfrm>
            <a:off x="6995160" y="246888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+20 %</a:t>
            </a:r>
            <a:endParaRPr lang="en-US" sz="2600" dirty="0"/>
          </a:p>
        </p:txBody>
      </p:sp>
      <p:sp>
        <p:nvSpPr>
          <p:cNvPr id="31" name="Text 25"/>
          <p:cNvSpPr/>
          <p:nvPr/>
        </p:nvSpPr>
        <p:spPr>
          <a:xfrm>
            <a:off x="6995160" y="294436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hausse de la fraude/an*</a:t>
            </a:r>
            <a:endParaRPr lang="en-US" sz="950" dirty="0"/>
          </a:p>
        </p:txBody>
      </p:sp>
      <p:sp>
        <p:nvSpPr>
          <p:cNvPr id="32" name="Text 26"/>
          <p:cNvSpPr/>
          <p:nvPr/>
        </p:nvSpPr>
        <p:spPr>
          <a:xfrm>
            <a:off x="7013448" y="3273552"/>
            <a:ext cx="1810512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Accédez uniquement à des candidats pré-vérifiés.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*Imodirect / facilogi.com, 2024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213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56032"/>
            <a:ext cx="2011680" cy="292608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560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kern="0" spc="200" dirty="0">
                <a:solidFill>
                  <a:srgbClr val="0D2137"/>
                </a:solidFill>
              </a:rPr>
              <a:t>FONCTIONNEMENT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621792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 pour vous, puissant pour vos candidats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188720" y="1234440"/>
            <a:ext cx="685800" cy="685800"/>
          </a:xfrm>
          <a:prstGeom prst="line">
            <a:avLst/>
          </a:prstGeom>
          <a:solidFill>
            <a:srgbClr val="02C39A"/>
          </a:solidFill>
          <a:ln/>
        </p:spPr>
      </p:sp>
      <p:sp>
        <p:nvSpPr>
          <p:cNvPr id="6" name="Text 4"/>
          <p:cNvSpPr/>
          <p:nvPr/>
        </p:nvSpPr>
        <p:spPr>
          <a:xfrm>
            <a:off x="1188720" y="123444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0D2137"/>
                </a:solidFill>
              </a:rPr>
              <a:t>1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3086100" y="2122691"/>
            <a:ext cx="411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B0C4CC"/>
                </a:solidFill>
              </a:rPr>
              <a:t>→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457200" y="1965960"/>
            <a:ext cx="26517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locataire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construit son dossier</a:t>
            </a:r>
            <a:endParaRPr lang="en-US" sz="1400" dirty="0"/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2788920"/>
            <a:ext cx="210312" cy="210312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868680" y="2761488"/>
            <a:ext cx="2240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B0C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Inscription gratuite sur PourAccord</a:t>
            </a:r>
            <a:endParaRPr lang="en-US" sz="1100" dirty="0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3200400"/>
            <a:ext cx="210312" cy="21031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868680" y="3172968"/>
            <a:ext cx="2240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fr-FR" sz="1100" dirty="0">
                <a:solidFill>
                  <a:srgbClr val="B0C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Chargement</a:t>
            </a:r>
            <a:r>
              <a:rPr lang="en-US" sz="1100" dirty="0">
                <a:solidFill>
                  <a:srgbClr val="B0C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fr-FR" sz="1100" dirty="0">
                <a:solidFill>
                  <a:srgbClr val="B0C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assisté</a:t>
            </a:r>
            <a:r>
              <a:rPr lang="en-US" sz="1100" dirty="0">
                <a:solidFill>
                  <a:srgbClr val="B0C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ses documents</a:t>
            </a:r>
            <a:endParaRPr lang="en-US" sz="1100" dirty="0"/>
          </a:p>
        </p:txBody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3611880"/>
            <a:ext cx="210312" cy="210312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868680" y="3584448"/>
            <a:ext cx="2240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B0C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Analyse IA immédiate et scoring</a:t>
            </a:r>
            <a:endParaRPr lang="en-US" sz="1100" dirty="0"/>
          </a:p>
        </p:txBody>
      </p:sp>
      <p:pic>
        <p:nvPicPr>
          <p:cNvPr id="15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4023360"/>
            <a:ext cx="210312" cy="210312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868680" y="3995928"/>
            <a:ext cx="2240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B0C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Dossier certifié en quelques minutes</a:t>
            </a:r>
            <a:endParaRPr lang="en-US" sz="1100" dirty="0"/>
          </a:p>
        </p:txBody>
      </p:sp>
      <p:sp>
        <p:nvSpPr>
          <p:cNvPr id="17" name="Shape 11"/>
          <p:cNvSpPr/>
          <p:nvPr/>
        </p:nvSpPr>
        <p:spPr>
          <a:xfrm>
            <a:off x="4023360" y="1234440"/>
            <a:ext cx="685800" cy="685800"/>
          </a:xfrm>
          <a:prstGeom prst="line">
            <a:avLst/>
          </a:prstGeom>
          <a:solidFill>
            <a:srgbClr val="00A896"/>
          </a:solidFill>
          <a:ln/>
        </p:spPr>
      </p:sp>
      <p:sp>
        <p:nvSpPr>
          <p:cNvPr id="18" name="Text 12"/>
          <p:cNvSpPr/>
          <p:nvPr/>
        </p:nvSpPr>
        <p:spPr>
          <a:xfrm>
            <a:off x="4023360" y="123444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0D2137"/>
                </a:solidFill>
              </a:rPr>
              <a:t>2</a:t>
            </a:r>
            <a:endParaRPr lang="en-US" sz="2400" dirty="0"/>
          </a:p>
        </p:txBody>
      </p:sp>
      <p:sp>
        <p:nvSpPr>
          <p:cNvPr id="19" name="Text 13"/>
          <p:cNvSpPr/>
          <p:nvPr/>
        </p:nvSpPr>
        <p:spPr>
          <a:xfrm>
            <a:off x="5920740" y="2122691"/>
            <a:ext cx="411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B0C4CC"/>
                </a:solidFill>
              </a:rPr>
              <a:t>→</a:t>
            </a:r>
            <a:endParaRPr lang="en-US" sz="2200" dirty="0"/>
          </a:p>
        </p:txBody>
      </p:sp>
      <p:sp>
        <p:nvSpPr>
          <p:cNvPr id="20" name="Text 14"/>
          <p:cNvSpPr/>
          <p:nvPr/>
        </p:nvSpPr>
        <p:spPr>
          <a:xfrm>
            <a:off x="3291840" y="1965960"/>
            <a:ext cx="26517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partage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lien sécurisé</a:t>
            </a:r>
            <a:endParaRPr lang="en-US" sz="1400" dirty="0"/>
          </a:p>
        </p:txBody>
      </p:sp>
      <p:pic>
        <p:nvPicPr>
          <p:cNvPr id="21" name="Image 4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29000" y="2788920"/>
            <a:ext cx="210312" cy="210312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3703320" y="2761488"/>
            <a:ext cx="2240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B0C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seul lien, valable 30 jours</a:t>
            </a:r>
            <a:endParaRPr lang="en-US" sz="1100" dirty="0"/>
          </a:p>
        </p:txBody>
      </p:sp>
      <p:pic>
        <p:nvPicPr>
          <p:cNvPr id="23" name="Image 5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29000" y="3200400"/>
            <a:ext cx="210312" cy="210312"/>
          </a:xfrm>
          <a:prstGeom prst="rect">
            <a:avLst/>
          </a:prstGeom>
        </p:spPr>
      </p:pic>
      <p:sp>
        <p:nvSpPr>
          <p:cNvPr id="24" name="Text 16"/>
          <p:cNvSpPr/>
          <p:nvPr/>
        </p:nvSpPr>
        <p:spPr>
          <a:xfrm>
            <a:off x="3703320" y="3172968"/>
            <a:ext cx="2240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B0C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Contrôle total du locataire</a:t>
            </a:r>
            <a:endParaRPr lang="en-US" sz="1100" dirty="0"/>
          </a:p>
        </p:txBody>
      </p:sp>
      <p:pic>
        <p:nvPicPr>
          <p:cNvPr id="25" name="Image 6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29000" y="3611880"/>
            <a:ext cx="210312" cy="210312"/>
          </a:xfrm>
          <a:prstGeom prst="rect">
            <a:avLst/>
          </a:prstGeom>
        </p:spPr>
      </p:pic>
      <p:sp>
        <p:nvSpPr>
          <p:cNvPr id="26" name="Text 17"/>
          <p:cNvSpPr/>
          <p:nvPr/>
        </p:nvSpPr>
        <p:spPr>
          <a:xfrm>
            <a:off x="3703320" y="3584448"/>
            <a:ext cx="2240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B0C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Notification à l'agence à l'envoi</a:t>
            </a:r>
            <a:endParaRPr lang="en-US" sz="1100" dirty="0"/>
          </a:p>
        </p:txBody>
      </p:sp>
      <p:pic>
        <p:nvPicPr>
          <p:cNvPr id="27" name="Image 7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29000" y="4023360"/>
            <a:ext cx="210312" cy="210312"/>
          </a:xfrm>
          <a:prstGeom prst="rect">
            <a:avLst/>
          </a:prstGeom>
        </p:spPr>
      </p:pic>
      <p:sp>
        <p:nvSpPr>
          <p:cNvPr id="28" name="Text 18"/>
          <p:cNvSpPr/>
          <p:nvPr/>
        </p:nvSpPr>
        <p:spPr>
          <a:xfrm>
            <a:off x="3703320" y="3995928"/>
            <a:ext cx="2240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B0C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Traçabilité complète des accès</a:t>
            </a:r>
            <a:endParaRPr lang="en-US" sz="1100" dirty="0"/>
          </a:p>
        </p:txBody>
      </p:sp>
      <p:sp>
        <p:nvSpPr>
          <p:cNvPr id="29" name="Shape 19"/>
          <p:cNvSpPr/>
          <p:nvPr/>
        </p:nvSpPr>
        <p:spPr>
          <a:xfrm>
            <a:off x="6858000" y="1234440"/>
            <a:ext cx="685800" cy="685800"/>
          </a:xfrm>
          <a:prstGeom prst="line">
            <a:avLst/>
          </a:prstGeom>
          <a:solidFill>
            <a:srgbClr val="028090"/>
          </a:solidFill>
          <a:ln/>
        </p:spPr>
      </p:sp>
      <p:sp>
        <p:nvSpPr>
          <p:cNvPr id="30" name="Text 20"/>
          <p:cNvSpPr/>
          <p:nvPr/>
        </p:nvSpPr>
        <p:spPr>
          <a:xfrm>
            <a:off x="6858000" y="123444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0D2137"/>
                </a:solidFill>
              </a:rPr>
              <a:t>3</a:t>
            </a:r>
            <a:endParaRPr lang="en-US" sz="2400" dirty="0"/>
          </a:p>
        </p:txBody>
      </p:sp>
      <p:sp>
        <p:nvSpPr>
          <p:cNvPr id="31" name="Text 21"/>
          <p:cNvSpPr/>
          <p:nvPr/>
        </p:nvSpPr>
        <p:spPr>
          <a:xfrm>
            <a:off x="6126480" y="1965960"/>
            <a:ext cx="26517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Vous accédez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 dossier qualifié</a:t>
            </a:r>
            <a:endParaRPr lang="en-US" sz="1400" dirty="0"/>
          </a:p>
        </p:txBody>
      </p:sp>
      <p:pic>
        <p:nvPicPr>
          <p:cNvPr id="32" name="Image 8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2788920"/>
            <a:ext cx="210312" cy="210312"/>
          </a:xfrm>
          <a:prstGeom prst="rect">
            <a:avLst/>
          </a:prstGeom>
        </p:spPr>
      </p:pic>
      <p:sp>
        <p:nvSpPr>
          <p:cNvPr id="33" name="Text 22"/>
          <p:cNvSpPr/>
          <p:nvPr/>
        </p:nvSpPr>
        <p:spPr>
          <a:xfrm>
            <a:off x="6537960" y="2761488"/>
            <a:ext cx="2240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B0C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global + points de vigilance</a:t>
            </a:r>
            <a:endParaRPr lang="en-US" sz="1100" dirty="0"/>
          </a:p>
        </p:txBody>
      </p:sp>
      <p:pic>
        <p:nvPicPr>
          <p:cNvPr id="34" name="Image 9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3200400"/>
            <a:ext cx="210312" cy="210312"/>
          </a:xfrm>
          <a:prstGeom prst="rect">
            <a:avLst/>
          </a:prstGeom>
        </p:spPr>
      </p:pic>
      <p:sp>
        <p:nvSpPr>
          <p:cNvPr id="35" name="Text 23"/>
          <p:cNvSpPr/>
          <p:nvPr/>
        </p:nvSpPr>
        <p:spPr>
          <a:xfrm>
            <a:off x="6537960" y="3172968"/>
            <a:ext cx="2240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B0C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Documents vérifiés et lisibles</a:t>
            </a:r>
            <a:endParaRPr lang="en-US" sz="1100" dirty="0"/>
          </a:p>
        </p:txBody>
      </p:sp>
      <p:pic>
        <p:nvPicPr>
          <p:cNvPr id="36" name="Image 1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3611880"/>
            <a:ext cx="210312" cy="210312"/>
          </a:xfrm>
          <a:prstGeom prst="rect">
            <a:avLst/>
          </a:prstGeom>
        </p:spPr>
      </p:pic>
      <p:sp>
        <p:nvSpPr>
          <p:cNvPr id="37" name="Text 24"/>
          <p:cNvSpPr/>
          <p:nvPr/>
        </p:nvSpPr>
        <p:spPr>
          <a:xfrm>
            <a:off x="6537960" y="3584448"/>
            <a:ext cx="2240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B0C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Fiche synthèse automatique</a:t>
            </a:r>
            <a:endParaRPr lang="en-US" sz="1100" dirty="0"/>
          </a:p>
        </p:txBody>
      </p:sp>
      <p:pic>
        <p:nvPicPr>
          <p:cNvPr id="38" name="Image 1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4023360"/>
            <a:ext cx="210312" cy="210312"/>
          </a:xfrm>
          <a:prstGeom prst="rect">
            <a:avLst/>
          </a:prstGeom>
        </p:spPr>
      </p:pic>
      <p:sp>
        <p:nvSpPr>
          <p:cNvPr id="39" name="Text 25"/>
          <p:cNvSpPr/>
          <p:nvPr/>
        </p:nvSpPr>
        <p:spPr>
          <a:xfrm>
            <a:off x="6537960" y="3995928"/>
            <a:ext cx="2240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B0C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Décision rapide, responsabilité protégée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0F7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56032"/>
            <a:ext cx="2011680" cy="292608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560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kern="0" spc="200" dirty="0">
                <a:solidFill>
                  <a:srgbClr val="0D2137"/>
                </a:solidFill>
              </a:rPr>
              <a:t>NOTRE DIFFÉRENCIATEUR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621792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IA anti-fraude à 7 niveaux</a:t>
            </a:r>
            <a:endParaRPr lang="en-US" sz="2300" dirty="0"/>
          </a:p>
          <a:p>
            <a:pPr marL="0" indent="0">
              <a:buNone/>
            </a:pPr>
            <a:r>
              <a:rPr lang="en-US" sz="230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 vos concurrents n'ont pas.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6400800" y="274320"/>
            <a:ext cx="2468880" cy="4572000"/>
          </a:xfrm>
          <a:prstGeom prst="rect">
            <a:avLst/>
          </a:prstGeom>
          <a:solidFill>
            <a:srgbClr val="0D2137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0" y="50292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B0C4CC"/>
                </a:solidFill>
              </a:rPr>
              <a:t>Score global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0" y="868680"/>
            <a:ext cx="24688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2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92</a:t>
            </a:r>
            <a:endParaRPr lang="en-US" sz="7200" dirty="0"/>
          </a:p>
        </p:txBody>
      </p:sp>
      <p:sp>
        <p:nvSpPr>
          <p:cNvPr id="8" name="Text 6"/>
          <p:cNvSpPr/>
          <p:nvPr/>
        </p:nvSpPr>
        <p:spPr>
          <a:xfrm>
            <a:off x="6400800" y="178308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28090"/>
                </a:solidFill>
              </a:rPr>
              <a:t>/ 100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6629400" y="2331720"/>
            <a:ext cx="2011680" cy="45720"/>
          </a:xfrm>
          <a:prstGeom prst="rect">
            <a:avLst/>
          </a:prstGeom>
          <a:solidFill>
            <a:srgbClr val="028090">
              <a:alpha val="50000"/>
            </a:srgbClr>
          </a:solidFill>
          <a:ln/>
        </p:spPr>
      </p:sp>
      <p:sp>
        <p:nvSpPr>
          <p:cNvPr id="10" name="Text 8"/>
          <p:cNvSpPr/>
          <p:nvPr/>
        </p:nvSpPr>
        <p:spPr>
          <a:xfrm>
            <a:off x="6492240" y="2542032"/>
            <a:ext cx="1097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CC"/>
                </a:solidFill>
              </a:rPr>
              <a:t>Identité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492240" y="2770632"/>
            <a:ext cx="2103120" cy="91440"/>
          </a:xfrm>
          <a:prstGeom prst="rect">
            <a:avLst/>
          </a:prstGeom>
          <a:solidFill>
            <a:srgbClr val="028090">
              <a:alpha val="30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6492240" y="2770632"/>
            <a:ext cx="1997964" cy="91440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13" name="Text 11"/>
          <p:cNvSpPr/>
          <p:nvPr/>
        </p:nvSpPr>
        <p:spPr>
          <a:xfrm>
            <a:off x="8412480" y="254203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02C39A"/>
                </a:solidFill>
              </a:rPr>
              <a:t>95%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492240" y="2999232"/>
            <a:ext cx="1097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CC"/>
                </a:solidFill>
              </a:rPr>
              <a:t>Revenus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492240" y="3227832"/>
            <a:ext cx="2103120" cy="91440"/>
          </a:xfrm>
          <a:prstGeom prst="rect">
            <a:avLst/>
          </a:prstGeom>
          <a:solidFill>
            <a:srgbClr val="028090">
              <a:alpha val="30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6492240" y="3227832"/>
            <a:ext cx="1892808" cy="91440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17" name="Text 15"/>
          <p:cNvSpPr/>
          <p:nvPr/>
        </p:nvSpPr>
        <p:spPr>
          <a:xfrm>
            <a:off x="8412480" y="299923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02C39A"/>
                </a:solidFill>
              </a:rPr>
              <a:t>90%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492240" y="3456432"/>
            <a:ext cx="1097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CC"/>
                </a:solidFill>
              </a:rPr>
              <a:t>Stabilité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492240" y="3685032"/>
            <a:ext cx="2103120" cy="91440"/>
          </a:xfrm>
          <a:prstGeom prst="rect">
            <a:avLst/>
          </a:prstGeom>
          <a:solidFill>
            <a:srgbClr val="028090">
              <a:alpha val="30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6492240" y="3685032"/>
            <a:ext cx="1850746" cy="91440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21" name="Text 19"/>
          <p:cNvSpPr/>
          <p:nvPr/>
        </p:nvSpPr>
        <p:spPr>
          <a:xfrm>
            <a:off x="8412480" y="345643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02C39A"/>
                </a:solidFill>
              </a:rPr>
              <a:t>88%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492240" y="3913632"/>
            <a:ext cx="1097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CC"/>
                </a:solidFill>
              </a:rPr>
              <a:t>Cohérence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492240" y="4142232"/>
            <a:ext cx="2103120" cy="91440"/>
          </a:xfrm>
          <a:prstGeom prst="rect">
            <a:avLst/>
          </a:prstGeom>
          <a:solidFill>
            <a:srgbClr val="028090">
              <a:alpha val="30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6492240" y="4142232"/>
            <a:ext cx="1976933" cy="91440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25" name="Text 23"/>
          <p:cNvSpPr/>
          <p:nvPr/>
        </p:nvSpPr>
        <p:spPr>
          <a:xfrm>
            <a:off x="8412480" y="391363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02C39A"/>
                </a:solidFill>
              </a:rPr>
              <a:t>94%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57200" y="1737360"/>
            <a:ext cx="384048" cy="384048"/>
          </a:xfrm>
          <a:prstGeom prst="line">
            <a:avLst/>
          </a:prstGeom>
          <a:solidFill>
            <a:srgbClr val="028090"/>
          </a:solidFill>
          <a:ln/>
        </p:spPr>
      </p:sp>
      <p:sp>
        <p:nvSpPr>
          <p:cNvPr id="27" name="Text 25"/>
          <p:cNvSpPr/>
          <p:nvPr/>
        </p:nvSpPr>
        <p:spPr>
          <a:xfrm>
            <a:off x="457200" y="1737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0C49A"/>
                </a:solidFill>
              </a:rPr>
              <a:t>1</a:t>
            </a:r>
            <a:endParaRPr lang="en-US" sz="1300" dirty="0">
              <a:solidFill>
                <a:srgbClr val="00C49A"/>
              </a:solidFill>
            </a:endParaRPr>
          </a:p>
        </p:txBody>
      </p:sp>
      <p:sp>
        <p:nvSpPr>
          <p:cNvPr id="28" name="Text 26"/>
          <p:cNvSpPr/>
          <p:nvPr/>
        </p:nvSpPr>
        <p:spPr>
          <a:xfrm>
            <a:off x="896112" y="1691640"/>
            <a:ext cx="2286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2137"/>
                </a:solidFill>
              </a:rPr>
              <a:t>Exhaustivité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896112" y="1965960"/>
            <a:ext cx="2286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</a:rPr>
              <a:t>Tous les documents requis sont présents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57200" y="2487168"/>
            <a:ext cx="384048" cy="384048"/>
          </a:xfrm>
          <a:prstGeom prst="line">
            <a:avLst/>
          </a:prstGeom>
          <a:solidFill>
            <a:srgbClr val="028090"/>
          </a:solidFill>
          <a:ln/>
        </p:spPr>
      </p:sp>
      <p:sp>
        <p:nvSpPr>
          <p:cNvPr id="31" name="Text 29"/>
          <p:cNvSpPr/>
          <p:nvPr/>
        </p:nvSpPr>
        <p:spPr>
          <a:xfrm>
            <a:off x="457200" y="24871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0C49A"/>
                </a:solidFill>
              </a:rPr>
              <a:t>2</a:t>
            </a:r>
            <a:endParaRPr lang="en-US" sz="1300" dirty="0">
              <a:solidFill>
                <a:srgbClr val="00C49A"/>
              </a:solidFill>
            </a:endParaRPr>
          </a:p>
        </p:txBody>
      </p:sp>
      <p:sp>
        <p:nvSpPr>
          <p:cNvPr id="32" name="Text 30"/>
          <p:cNvSpPr/>
          <p:nvPr/>
        </p:nvSpPr>
        <p:spPr>
          <a:xfrm>
            <a:off x="896112" y="2441448"/>
            <a:ext cx="2286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2137"/>
                </a:solidFill>
              </a:rPr>
              <a:t>Conformité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896112" y="2715768"/>
            <a:ext cx="2286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</a:rPr>
              <a:t>Format, lisibilité, résolution OCR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457200" y="3236976"/>
            <a:ext cx="384048" cy="384048"/>
          </a:xfrm>
          <a:prstGeom prst="line">
            <a:avLst/>
          </a:prstGeom>
          <a:solidFill>
            <a:srgbClr val="028090"/>
          </a:solidFill>
          <a:ln/>
        </p:spPr>
      </p:sp>
      <p:sp>
        <p:nvSpPr>
          <p:cNvPr id="35" name="Text 33"/>
          <p:cNvSpPr/>
          <p:nvPr/>
        </p:nvSpPr>
        <p:spPr>
          <a:xfrm>
            <a:off x="457200" y="32369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0C49A"/>
                </a:solidFill>
              </a:rPr>
              <a:t>3</a:t>
            </a:r>
            <a:endParaRPr lang="en-US" sz="1300" dirty="0">
              <a:solidFill>
                <a:srgbClr val="00C49A"/>
              </a:solidFill>
            </a:endParaRPr>
          </a:p>
        </p:txBody>
      </p:sp>
      <p:sp>
        <p:nvSpPr>
          <p:cNvPr id="36" name="Text 34"/>
          <p:cNvSpPr/>
          <p:nvPr/>
        </p:nvSpPr>
        <p:spPr>
          <a:xfrm>
            <a:off x="896112" y="3191256"/>
            <a:ext cx="2286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2137"/>
                </a:solidFill>
              </a:rPr>
              <a:t>Validité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896112" y="3465576"/>
            <a:ext cx="2286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</a:rPr>
              <a:t>NIR, SIRET, MRZ vérifiés algorithmiquement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457200" y="3986784"/>
            <a:ext cx="384048" cy="384048"/>
          </a:xfrm>
          <a:prstGeom prst="line">
            <a:avLst/>
          </a:prstGeom>
          <a:solidFill>
            <a:srgbClr val="028090"/>
          </a:solidFill>
          <a:ln/>
        </p:spPr>
      </p:sp>
      <p:sp>
        <p:nvSpPr>
          <p:cNvPr id="39" name="Text 37"/>
          <p:cNvSpPr/>
          <p:nvPr/>
        </p:nvSpPr>
        <p:spPr>
          <a:xfrm>
            <a:off x="457200" y="39867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0C49A"/>
                </a:solidFill>
              </a:rPr>
              <a:t>4</a:t>
            </a:r>
            <a:endParaRPr lang="en-US" sz="1300" dirty="0">
              <a:solidFill>
                <a:srgbClr val="00C49A"/>
              </a:solidFill>
            </a:endParaRPr>
          </a:p>
        </p:txBody>
      </p:sp>
      <p:sp>
        <p:nvSpPr>
          <p:cNvPr id="40" name="Text 38"/>
          <p:cNvSpPr/>
          <p:nvPr/>
        </p:nvSpPr>
        <p:spPr>
          <a:xfrm>
            <a:off x="896112" y="3941064"/>
            <a:ext cx="2286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2137"/>
                </a:solidFill>
              </a:rPr>
              <a:t>Authenticité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896112" y="4215384"/>
            <a:ext cx="2286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</a:rPr>
              <a:t>Existence entreprise via API INSEE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3291840" y="1737360"/>
            <a:ext cx="384048" cy="384048"/>
          </a:xfrm>
          <a:prstGeom prst="line">
            <a:avLst/>
          </a:prstGeom>
          <a:solidFill>
            <a:srgbClr val="028090"/>
          </a:solidFill>
          <a:ln/>
        </p:spPr>
      </p:sp>
      <p:sp>
        <p:nvSpPr>
          <p:cNvPr id="43" name="Text 41"/>
          <p:cNvSpPr/>
          <p:nvPr/>
        </p:nvSpPr>
        <p:spPr>
          <a:xfrm>
            <a:off x="3291840" y="1737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0C49A"/>
                </a:solidFill>
              </a:rPr>
              <a:t>5</a:t>
            </a:r>
            <a:endParaRPr lang="en-US" sz="1300" dirty="0">
              <a:solidFill>
                <a:srgbClr val="00C49A"/>
              </a:solidFill>
            </a:endParaRPr>
          </a:p>
        </p:txBody>
      </p:sp>
      <p:sp>
        <p:nvSpPr>
          <p:cNvPr id="44" name="Text 42"/>
          <p:cNvSpPr/>
          <p:nvPr/>
        </p:nvSpPr>
        <p:spPr>
          <a:xfrm>
            <a:off x="3730752" y="1691640"/>
            <a:ext cx="2286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2137"/>
                </a:solidFill>
              </a:rPr>
              <a:t>Cohérence intra</a:t>
            </a: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3730752" y="1965960"/>
            <a:ext cx="2286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</a:rPr>
              <a:t>Données cohérentes au sein d'un document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3291840" y="2487168"/>
            <a:ext cx="384048" cy="384048"/>
          </a:xfrm>
          <a:prstGeom prst="line">
            <a:avLst/>
          </a:prstGeom>
          <a:solidFill>
            <a:srgbClr val="028090"/>
          </a:solidFill>
          <a:ln/>
        </p:spPr>
      </p:sp>
      <p:sp>
        <p:nvSpPr>
          <p:cNvPr id="47" name="Text 45"/>
          <p:cNvSpPr/>
          <p:nvPr/>
        </p:nvSpPr>
        <p:spPr>
          <a:xfrm>
            <a:off x="3291840" y="24871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0C49A"/>
                </a:solidFill>
              </a:rPr>
              <a:t>6</a:t>
            </a:r>
            <a:endParaRPr lang="en-US" sz="1300" dirty="0">
              <a:solidFill>
                <a:srgbClr val="00C49A"/>
              </a:solidFill>
            </a:endParaRPr>
          </a:p>
        </p:txBody>
      </p:sp>
      <p:sp>
        <p:nvSpPr>
          <p:cNvPr id="48" name="Text 46"/>
          <p:cNvSpPr/>
          <p:nvPr/>
        </p:nvSpPr>
        <p:spPr>
          <a:xfrm>
            <a:off x="3730752" y="2441448"/>
            <a:ext cx="2286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2137"/>
                </a:solidFill>
              </a:rPr>
              <a:t>Cohérence inter</a:t>
            </a:r>
            <a:endParaRPr lang="en-US" sz="1200" dirty="0"/>
          </a:p>
        </p:txBody>
      </p:sp>
      <p:sp>
        <p:nvSpPr>
          <p:cNvPr id="49" name="Text 47"/>
          <p:cNvSpPr/>
          <p:nvPr/>
        </p:nvSpPr>
        <p:spPr>
          <a:xfrm>
            <a:off x="3730752" y="2715768"/>
            <a:ext cx="2286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</a:rPr>
              <a:t>Cohérence croisée entre tous les documents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3291840" y="3236976"/>
            <a:ext cx="384048" cy="384048"/>
          </a:xfrm>
          <a:prstGeom prst="line">
            <a:avLst/>
          </a:prstGeom>
          <a:solidFill>
            <a:srgbClr val="028090"/>
          </a:solidFill>
          <a:ln/>
        </p:spPr>
      </p:sp>
      <p:sp>
        <p:nvSpPr>
          <p:cNvPr id="51" name="Text 49"/>
          <p:cNvSpPr/>
          <p:nvPr/>
        </p:nvSpPr>
        <p:spPr>
          <a:xfrm>
            <a:off x="3291840" y="32369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0C49A"/>
                </a:solidFill>
              </a:rPr>
              <a:t>7</a:t>
            </a:r>
            <a:endParaRPr lang="en-US" sz="1300" dirty="0">
              <a:solidFill>
                <a:srgbClr val="00C49A"/>
              </a:solidFill>
            </a:endParaRPr>
          </a:p>
        </p:txBody>
      </p:sp>
      <p:sp>
        <p:nvSpPr>
          <p:cNvPr id="52" name="Text 50"/>
          <p:cNvSpPr/>
          <p:nvPr/>
        </p:nvSpPr>
        <p:spPr>
          <a:xfrm>
            <a:off x="3730752" y="3191256"/>
            <a:ext cx="2286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2137"/>
                </a:solidFill>
              </a:rPr>
              <a:t>Intégrité</a:t>
            </a:r>
            <a:endParaRPr lang="en-US" sz="1200" dirty="0"/>
          </a:p>
        </p:txBody>
      </p:sp>
      <p:sp>
        <p:nvSpPr>
          <p:cNvPr id="53" name="Text 51"/>
          <p:cNvSpPr/>
          <p:nvPr/>
        </p:nvSpPr>
        <p:spPr>
          <a:xfrm>
            <a:off x="3730752" y="3465576"/>
            <a:ext cx="2286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</a:rPr>
              <a:t>Détection métadonnées et altérations suspectes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213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56032"/>
            <a:ext cx="2011680" cy="292608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560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kern="0" spc="200" dirty="0">
                <a:solidFill>
                  <a:srgbClr val="0D2137"/>
                </a:solidFill>
              </a:rPr>
              <a:t>LE MARCHÉ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621792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marché locatif sous tension,</a:t>
            </a:r>
            <a:endParaRPr lang="en-US" sz="2400" dirty="0"/>
          </a:p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prêt pour la digitalisation.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1691640"/>
            <a:ext cx="2468880" cy="2011680"/>
          </a:xfrm>
          <a:prstGeom prst="rect">
            <a:avLst/>
          </a:prstGeom>
          <a:solidFill>
            <a:srgbClr val="028090">
              <a:alpha val="15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731520" y="1691640"/>
            <a:ext cx="2468880" cy="64008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1874520"/>
            <a:ext cx="24688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~30 000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731520" y="2651760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</a:rPr>
              <a:t>agences immobilières en France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31520" y="3063240"/>
            <a:ext cx="2468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B0C4CC"/>
                </a:solidFill>
              </a:rPr>
              <a:t>Source : FNAIM / imop.fr, 2025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474720" y="1691640"/>
            <a:ext cx="2468880" cy="2011680"/>
          </a:xfrm>
          <a:prstGeom prst="rect">
            <a:avLst/>
          </a:prstGeom>
          <a:solidFill>
            <a:srgbClr val="028090">
              <a:alpha val="15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3474720" y="1691640"/>
            <a:ext cx="2468880" cy="64008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12" name="Text 10"/>
          <p:cNvSpPr/>
          <p:nvPr/>
        </p:nvSpPr>
        <p:spPr>
          <a:xfrm>
            <a:off x="3474720" y="1874520"/>
            <a:ext cx="24688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dossier</a:t>
            </a:r>
            <a:endParaRPr lang="en-US" sz="3600" dirty="0"/>
          </a:p>
          <a:p>
            <a:pPr marL="0" indent="0" algn="ctr">
              <a:buNone/>
            </a:pPr>
            <a:r>
              <a:rPr lang="en-US" sz="36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 5</a:t>
            </a:r>
            <a:endParaRPr lang="en-US" sz="3600" dirty="0"/>
          </a:p>
        </p:txBody>
      </p:sp>
      <p:sp>
        <p:nvSpPr>
          <p:cNvPr id="13" name="Text 11"/>
          <p:cNvSpPr/>
          <p:nvPr/>
        </p:nvSpPr>
        <p:spPr>
          <a:xfrm>
            <a:off x="3474720" y="2651760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</a:rPr>
              <a:t>contient un faux document (Paris)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474720" y="3063240"/>
            <a:ext cx="2468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B0C4CC"/>
                </a:solidFill>
              </a:rPr>
              <a:t>Source : Imodirect, 2023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217920" y="1691640"/>
            <a:ext cx="2468880" cy="2011680"/>
          </a:xfrm>
          <a:prstGeom prst="rect">
            <a:avLst/>
          </a:prstGeom>
          <a:solidFill>
            <a:srgbClr val="028090">
              <a:alpha val="15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6217920" y="1691640"/>
            <a:ext cx="2468880" cy="64008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17" name="Text 15"/>
          <p:cNvSpPr/>
          <p:nvPr/>
        </p:nvSpPr>
        <p:spPr>
          <a:xfrm>
            <a:off x="6217920" y="1874520"/>
            <a:ext cx="24688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400 000€</a:t>
            </a:r>
            <a:endParaRPr lang="en-US" sz="3600" dirty="0"/>
          </a:p>
        </p:txBody>
      </p:sp>
      <p:sp>
        <p:nvSpPr>
          <p:cNvPr id="18" name="Text 16"/>
          <p:cNvSpPr/>
          <p:nvPr/>
        </p:nvSpPr>
        <p:spPr>
          <a:xfrm>
            <a:off x="6217920" y="2651760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</a:rPr>
              <a:t>d'amende RGPD dans l'immobilier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217920" y="3063240"/>
            <a:ext cx="2468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B0C4CC"/>
                </a:solidFill>
              </a:rPr>
              <a:t>Source : CNIL vs Sergic, 2019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7200" y="3886200"/>
            <a:ext cx="8229600" cy="1005840"/>
          </a:xfrm>
          <a:prstGeom prst="rect">
            <a:avLst/>
          </a:prstGeom>
          <a:solidFill>
            <a:srgbClr val="028090">
              <a:alpha val="10000"/>
            </a:srgbClr>
          </a:solidFill>
          <a:ln/>
        </p:spPr>
      </p:sp>
      <p:sp>
        <p:nvSpPr>
          <p:cNvPr id="21" name="Text 19"/>
          <p:cNvSpPr/>
          <p:nvPr/>
        </p:nvSpPr>
        <p:spPr>
          <a:xfrm>
            <a:off x="457200" y="388620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2C39A"/>
                </a:solidFill>
              </a:rPr>
              <a:t>La fraude a bondi de +20 % entre 2022 et 2023 en province, +15 % à Paris</a:t>
            </a:r>
            <a:r>
              <a:rPr lang="en-US" sz="1200" i="1" dirty="0">
                <a:solidFill>
                  <a:srgbClr val="B0C4CC"/>
                </a:solidFill>
              </a:rPr>
              <a:t>  —  Imodirect / facilogi.com, 2024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57200" y="440740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2C39A"/>
                </a:solidFill>
              </a:rPr>
              <a:t>Gestion locative = 35 % du CA des professionnels de l'immobilier</a:t>
            </a:r>
            <a:r>
              <a:rPr lang="en-US" sz="1200" i="1" dirty="0">
                <a:solidFill>
                  <a:srgbClr val="B0C4CC"/>
                </a:solidFill>
              </a:rPr>
              <a:t>  —  LocService / modelesdebusinessplan.com, 2023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0F7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56032"/>
            <a:ext cx="2011680" cy="292608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560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kern="0" spc="200" dirty="0">
                <a:solidFill>
                  <a:srgbClr val="0D2137"/>
                </a:solidFill>
              </a:rPr>
              <a:t>PARTENARIAT PILOTE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621792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Rejoignez les premières agences PourAccord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1371600"/>
            <a:ext cx="4114800" cy="3474720"/>
          </a:xfrm>
          <a:prstGeom prst="rect">
            <a:avLst/>
          </a:prstGeom>
          <a:solidFill>
            <a:srgbClr val="0D2137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50876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que vous obtenez</a:t>
            </a:r>
            <a:endParaRPr lang="en-US" sz="14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2011680"/>
            <a:ext cx="228600" cy="22860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1993392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</a:rPr>
              <a:t>Accès anticipé à la plateforme</a:t>
            </a:r>
            <a:endParaRPr lang="en-US" sz="1200" dirty="0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2423160"/>
            <a:ext cx="228600" cy="22860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914400" y="2404872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</a:rPr>
              <a:t>Influence directe sur les fonctionnalités</a:t>
            </a:r>
            <a:endParaRPr lang="en-US" sz="1200" dirty="0"/>
          </a:p>
        </p:txBody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2834640"/>
            <a:ext cx="228600" cy="228600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914400" y="2816352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</a:rPr>
              <a:t>Accompagnement dédié à l'onboarding</a:t>
            </a:r>
            <a:endParaRPr lang="en-US" sz="1200" dirty="0"/>
          </a:p>
        </p:txBody>
      </p:sp>
      <p:pic>
        <p:nvPicPr>
          <p:cNvPr id="13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3246120"/>
            <a:ext cx="228600" cy="2286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914400" y="3227832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</a:rPr>
              <a:t>Tarif préférentiel garanti à vie</a:t>
            </a:r>
            <a:endParaRPr lang="en-US" sz="1200" dirty="0"/>
          </a:p>
        </p:txBody>
      </p:sp>
      <p:pic>
        <p:nvPicPr>
          <p:cNvPr id="15" name="Image 4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3657600"/>
            <a:ext cx="228600" cy="228600"/>
          </a:xfrm>
          <a:prstGeom prst="rect">
            <a:avLst/>
          </a:prstGeom>
        </p:spPr>
      </p:pic>
      <p:sp>
        <p:nvSpPr>
          <p:cNvPr id="16" name="Text 9"/>
          <p:cNvSpPr/>
          <p:nvPr/>
        </p:nvSpPr>
        <p:spPr>
          <a:xfrm>
            <a:off x="914400" y="3639312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</a:rPr>
              <a:t>Co-construction du produit avec l'équipe</a:t>
            </a:r>
            <a:endParaRPr lang="en-US" sz="1200" dirty="0"/>
          </a:p>
        </p:txBody>
      </p:sp>
      <p:pic>
        <p:nvPicPr>
          <p:cNvPr id="17" name="Image 5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4069080"/>
            <a:ext cx="228600" cy="228600"/>
          </a:xfrm>
          <a:prstGeom prst="rect">
            <a:avLst/>
          </a:prstGeom>
        </p:spPr>
      </p:pic>
      <p:sp>
        <p:nvSpPr>
          <p:cNvPr id="18" name="Text 10"/>
          <p:cNvSpPr/>
          <p:nvPr/>
        </p:nvSpPr>
        <p:spPr>
          <a:xfrm>
            <a:off x="914400" y="4050792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</a:rPr>
              <a:t>Statut de partenaire fondateur</a:t>
            </a:r>
            <a:endParaRPr lang="en-US" sz="1200" dirty="0"/>
          </a:p>
        </p:txBody>
      </p:sp>
      <p:sp>
        <p:nvSpPr>
          <p:cNvPr id="19" name="Shape 11"/>
          <p:cNvSpPr/>
          <p:nvPr/>
        </p:nvSpPr>
        <p:spPr>
          <a:xfrm>
            <a:off x="4754880" y="1371600"/>
            <a:ext cx="4114800" cy="3474720"/>
          </a:xfrm>
          <a:prstGeom prst="rect">
            <a:avLst/>
          </a:prstGeom>
          <a:solidFill>
            <a:srgbClr val="F0F7F8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0" name="Shape 12"/>
          <p:cNvSpPr/>
          <p:nvPr/>
        </p:nvSpPr>
        <p:spPr>
          <a:xfrm>
            <a:off x="4754880" y="1371600"/>
            <a:ext cx="4114800" cy="64008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21" name="Text 13"/>
          <p:cNvSpPr/>
          <p:nvPr/>
        </p:nvSpPr>
        <p:spPr>
          <a:xfrm>
            <a:off x="4846320" y="1508760"/>
            <a:ext cx="3840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que nous vous demandons</a:t>
            </a:r>
            <a:endParaRPr lang="en-US" sz="1400" dirty="0"/>
          </a:p>
        </p:txBody>
      </p:sp>
      <p:pic>
        <p:nvPicPr>
          <p:cNvPr id="22" name="Image 6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92040" y="2029968"/>
            <a:ext cx="256032" cy="228600"/>
          </a:xfrm>
          <a:prstGeom prst="rect">
            <a:avLst/>
          </a:prstGeom>
        </p:spPr>
      </p:pic>
      <p:sp>
        <p:nvSpPr>
          <p:cNvPr id="23" name="Text 14"/>
          <p:cNvSpPr/>
          <p:nvPr/>
        </p:nvSpPr>
        <p:spPr>
          <a:xfrm>
            <a:off x="5230368" y="201168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D2137"/>
                </a:solidFill>
              </a:rPr>
              <a:t>Tester PourAccord sur vos vrais dossiers</a:t>
            </a:r>
            <a:endParaRPr lang="en-US" sz="1200" dirty="0"/>
          </a:p>
        </p:txBody>
      </p:sp>
      <p:pic>
        <p:nvPicPr>
          <p:cNvPr id="24" name="Image 7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92040" y="2532888"/>
            <a:ext cx="256032" cy="228600"/>
          </a:xfrm>
          <a:prstGeom prst="rect">
            <a:avLst/>
          </a:prstGeom>
        </p:spPr>
      </p:pic>
      <p:sp>
        <p:nvSpPr>
          <p:cNvPr id="25" name="Text 15"/>
          <p:cNvSpPr/>
          <p:nvPr/>
        </p:nvSpPr>
        <p:spPr>
          <a:xfrm>
            <a:off x="5230368" y="251460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D2137"/>
                </a:solidFill>
              </a:rPr>
              <a:t>Partager vos retours régulièrement</a:t>
            </a:r>
            <a:endParaRPr lang="en-US" sz="1200" dirty="0"/>
          </a:p>
        </p:txBody>
      </p:sp>
      <p:pic>
        <p:nvPicPr>
          <p:cNvPr id="26" name="Image 8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92040" y="3035808"/>
            <a:ext cx="256032" cy="228600"/>
          </a:xfrm>
          <a:prstGeom prst="rect">
            <a:avLst/>
          </a:prstGeom>
        </p:spPr>
      </p:pic>
      <p:sp>
        <p:nvSpPr>
          <p:cNvPr id="27" name="Text 16"/>
          <p:cNvSpPr/>
          <p:nvPr/>
        </p:nvSpPr>
        <p:spPr>
          <a:xfrm>
            <a:off x="5230368" y="301752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D2137"/>
                </a:solidFill>
              </a:rPr>
              <a:t>Nous présenter à votre réseau si satisfaits</a:t>
            </a:r>
            <a:endParaRPr lang="en-US" sz="1200" dirty="0"/>
          </a:p>
        </p:txBody>
      </p:sp>
      <p:pic>
        <p:nvPicPr>
          <p:cNvPr id="28" name="Image 9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92040" y="3538728"/>
            <a:ext cx="256032" cy="228600"/>
          </a:xfrm>
          <a:prstGeom prst="rect">
            <a:avLst/>
          </a:prstGeom>
        </p:spPr>
      </p:pic>
      <p:sp>
        <p:nvSpPr>
          <p:cNvPr id="29" name="Text 17"/>
          <p:cNvSpPr/>
          <p:nvPr/>
        </p:nvSpPr>
        <p:spPr>
          <a:xfrm>
            <a:off x="5230368" y="352044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D2137"/>
                </a:solidFill>
              </a:rPr>
              <a:t>Témoignage client (optionnel)</a:t>
            </a:r>
            <a:endParaRPr lang="en-US" sz="1200" dirty="0"/>
          </a:p>
        </p:txBody>
      </p:sp>
      <p:sp>
        <p:nvSpPr>
          <p:cNvPr id="30" name="Shape 18"/>
          <p:cNvSpPr/>
          <p:nvPr/>
        </p:nvSpPr>
        <p:spPr>
          <a:xfrm>
            <a:off x="457200" y="4663440"/>
            <a:ext cx="8366760" cy="347472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31" name="Text 19"/>
          <p:cNvSpPr/>
          <p:nvPr/>
        </p:nvSpPr>
        <p:spPr>
          <a:xfrm>
            <a:off x="457200" y="4663440"/>
            <a:ext cx="8366760" cy="347472"/>
          </a:xfrm>
          <a:prstGeom prst="rect">
            <a:avLst/>
          </a:prstGeom>
          <a:noFill/>
          <a:ln/>
        </p:spPr>
        <p:txBody>
          <a:bodyPr wrap="square" lIns="0" tIns="2540" rIns="254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2137"/>
                </a:solidFill>
              </a:rPr>
              <a:t>→  Nous cherchons 10 agences pilotes pour co-construire le futur standard du dossier locataire.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D213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56032"/>
            <a:ext cx="2011680" cy="292608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560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kern="0" spc="200" dirty="0">
                <a:solidFill>
                  <a:srgbClr val="0D2137"/>
                </a:solidFill>
              </a:rPr>
              <a:t>ROADMAP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621792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la beta à la plateforme de référence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457200" y="2011680"/>
            <a:ext cx="8229600" cy="45720"/>
          </a:xfrm>
          <a:prstGeom prst="rect">
            <a:avLst/>
          </a:prstGeom>
          <a:solidFill>
            <a:srgbClr val="028090">
              <a:alpha val="4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280160" y="1901952"/>
            <a:ext cx="256032" cy="256032"/>
          </a:xfrm>
          <a:prstGeom prst="line">
            <a:avLst/>
          </a:prstGeom>
          <a:solidFill>
            <a:srgbClr val="02C39A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55448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B0C4CC"/>
                </a:solidFill>
              </a:rPr>
              <a:t>Mois 1–3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57200" y="2331720"/>
            <a:ext cx="2011680" cy="2560320"/>
          </a:xfrm>
          <a:prstGeom prst="rect">
            <a:avLst/>
          </a:prstGeom>
          <a:solidFill>
            <a:srgbClr val="028090">
              <a:alpha val="10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457200" y="2331720"/>
            <a:ext cx="2011680" cy="54864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10" name="Text 8"/>
          <p:cNvSpPr/>
          <p:nvPr/>
        </p:nvSpPr>
        <p:spPr>
          <a:xfrm>
            <a:off x="530352" y="2423160"/>
            <a:ext cx="18745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MVP &amp; Beta Privée</a:t>
            </a:r>
            <a:endParaRPr lang="en-US" sz="1200" dirty="0"/>
          </a:p>
        </p:txBody>
      </p:sp>
      <p:pic>
        <p:nvPicPr>
          <p:cNvPr id="11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880360"/>
            <a:ext cx="182880" cy="182880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804672" y="2862072"/>
            <a:ext cx="16276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</a:rPr>
              <a:t>Infrastructure &amp; Auth</a:t>
            </a:r>
            <a:endParaRPr lang="en-US" sz="1050" dirty="0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3319272"/>
            <a:ext cx="182880" cy="18288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804672" y="3300984"/>
            <a:ext cx="16276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</a:rPr>
              <a:t>Upload &amp; analyse IA</a:t>
            </a:r>
            <a:endParaRPr lang="en-US" sz="1050" dirty="0"/>
          </a:p>
        </p:txBody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3758184"/>
            <a:ext cx="182880" cy="18288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804672" y="3739896"/>
            <a:ext cx="16276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</a:rPr>
              <a:t>Module agence</a:t>
            </a:r>
            <a:endParaRPr lang="en-US" sz="1050" dirty="0"/>
          </a:p>
        </p:txBody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4197096"/>
            <a:ext cx="182880" cy="18288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804672" y="4178808"/>
            <a:ext cx="16276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</a:rPr>
              <a:t>RGPD complet</a:t>
            </a:r>
            <a:endParaRPr lang="en-US" sz="1050" dirty="0"/>
          </a:p>
        </p:txBody>
      </p:sp>
      <p:sp>
        <p:nvSpPr>
          <p:cNvPr id="19" name="Shape 13"/>
          <p:cNvSpPr/>
          <p:nvPr/>
        </p:nvSpPr>
        <p:spPr>
          <a:xfrm>
            <a:off x="457200" y="4754880"/>
            <a:ext cx="2011680" cy="228600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20" name="Text 14"/>
          <p:cNvSpPr/>
          <p:nvPr/>
        </p:nvSpPr>
        <p:spPr>
          <a:xfrm>
            <a:off x="457200" y="475488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D2137"/>
                </a:solidFill>
              </a:rPr>
              <a:t>VOUS ÊTES ICI</a:t>
            </a:r>
            <a:endParaRPr lang="en-US" sz="900" dirty="0"/>
          </a:p>
        </p:txBody>
      </p:sp>
      <p:sp>
        <p:nvSpPr>
          <p:cNvPr id="21" name="Shape 15"/>
          <p:cNvSpPr/>
          <p:nvPr/>
        </p:nvSpPr>
        <p:spPr>
          <a:xfrm>
            <a:off x="3429000" y="1901952"/>
            <a:ext cx="256032" cy="256032"/>
          </a:xfrm>
          <a:prstGeom prst="line">
            <a:avLst/>
          </a:prstGeom>
          <a:solidFill>
            <a:srgbClr val="00A896"/>
          </a:solidFill>
          <a:ln/>
        </p:spPr>
      </p:sp>
      <p:sp>
        <p:nvSpPr>
          <p:cNvPr id="22" name="Text 16"/>
          <p:cNvSpPr/>
          <p:nvPr/>
        </p:nvSpPr>
        <p:spPr>
          <a:xfrm>
            <a:off x="2606040" y="155448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B0C4CC"/>
                </a:solidFill>
              </a:rPr>
              <a:t>Mois 4</a:t>
            </a:r>
            <a:endParaRPr lang="en-US" sz="1000" dirty="0"/>
          </a:p>
        </p:txBody>
      </p:sp>
      <p:sp>
        <p:nvSpPr>
          <p:cNvPr id="23" name="Shape 17"/>
          <p:cNvSpPr/>
          <p:nvPr/>
        </p:nvSpPr>
        <p:spPr>
          <a:xfrm>
            <a:off x="2606040" y="2331720"/>
            <a:ext cx="2011680" cy="2560320"/>
          </a:xfrm>
          <a:prstGeom prst="rect">
            <a:avLst/>
          </a:prstGeom>
          <a:solidFill>
            <a:srgbClr val="028090">
              <a:alpha val="10000"/>
            </a:srgbClr>
          </a:solidFill>
          <a:ln/>
        </p:spPr>
      </p:sp>
      <p:sp>
        <p:nvSpPr>
          <p:cNvPr id="24" name="Shape 18"/>
          <p:cNvSpPr/>
          <p:nvPr/>
        </p:nvSpPr>
        <p:spPr>
          <a:xfrm>
            <a:off x="2606040" y="2331720"/>
            <a:ext cx="2011680" cy="5486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25" name="Text 19"/>
          <p:cNvSpPr/>
          <p:nvPr/>
        </p:nvSpPr>
        <p:spPr>
          <a:xfrm>
            <a:off x="2679192" y="2423160"/>
            <a:ext cx="18745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Lancement Public</a:t>
            </a:r>
            <a:endParaRPr lang="en-US" sz="1200" dirty="0"/>
          </a:p>
        </p:txBody>
      </p:sp>
      <p:pic>
        <p:nvPicPr>
          <p:cNvPr id="26" name="Image 4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97480" y="2880360"/>
            <a:ext cx="182880" cy="182880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2953512" y="2862072"/>
            <a:ext cx="16276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B0C4CC"/>
                </a:solidFill>
              </a:rPr>
              <a:t>10–20 agences pilotes</a:t>
            </a:r>
            <a:endParaRPr lang="en-US" sz="1050" dirty="0"/>
          </a:p>
        </p:txBody>
      </p:sp>
      <p:pic>
        <p:nvPicPr>
          <p:cNvPr id="28" name="Image 5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97480" y="3319272"/>
            <a:ext cx="182880" cy="182880"/>
          </a:xfrm>
          <a:prstGeom prst="rect">
            <a:avLst/>
          </a:prstGeom>
        </p:spPr>
      </p:pic>
      <p:sp>
        <p:nvSpPr>
          <p:cNvPr id="29" name="Text 21"/>
          <p:cNvSpPr/>
          <p:nvPr/>
        </p:nvSpPr>
        <p:spPr>
          <a:xfrm>
            <a:off x="2953512" y="3300984"/>
            <a:ext cx="16276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B0C4CC"/>
                </a:solidFill>
              </a:rPr>
              <a:t>Onboarding optimisé</a:t>
            </a:r>
            <a:endParaRPr lang="en-US" sz="1050" dirty="0"/>
          </a:p>
        </p:txBody>
      </p:sp>
      <p:pic>
        <p:nvPicPr>
          <p:cNvPr id="30" name="Image 6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97480" y="3758184"/>
            <a:ext cx="182880" cy="182880"/>
          </a:xfrm>
          <a:prstGeom prst="rect">
            <a:avLst/>
          </a:prstGeom>
        </p:spPr>
      </p:pic>
      <p:sp>
        <p:nvSpPr>
          <p:cNvPr id="31" name="Text 22"/>
          <p:cNvSpPr/>
          <p:nvPr/>
        </p:nvSpPr>
        <p:spPr>
          <a:xfrm>
            <a:off x="2953512" y="3739896"/>
            <a:ext cx="16276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B0C4CC"/>
                </a:solidFill>
              </a:rPr>
              <a:t>Landing &amp; SEO</a:t>
            </a:r>
            <a:endParaRPr lang="en-US" sz="1050" dirty="0"/>
          </a:p>
        </p:txBody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97480" y="4197096"/>
            <a:ext cx="182880" cy="18288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2953512" y="4178808"/>
            <a:ext cx="16276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B0C4CC"/>
                </a:solidFill>
              </a:rPr>
              <a:t>Campagne acquisition</a:t>
            </a:r>
            <a:endParaRPr lang="en-US" sz="1050" dirty="0"/>
          </a:p>
        </p:txBody>
      </p:sp>
      <p:sp>
        <p:nvSpPr>
          <p:cNvPr id="34" name="Shape 24"/>
          <p:cNvSpPr/>
          <p:nvPr/>
        </p:nvSpPr>
        <p:spPr>
          <a:xfrm>
            <a:off x="5577840" y="1901952"/>
            <a:ext cx="256032" cy="256032"/>
          </a:xfrm>
          <a:prstGeom prst="line">
            <a:avLst/>
          </a:prstGeom>
          <a:solidFill>
            <a:srgbClr val="028090"/>
          </a:solidFill>
          <a:ln/>
        </p:spPr>
      </p:sp>
      <p:sp>
        <p:nvSpPr>
          <p:cNvPr id="35" name="Text 25"/>
          <p:cNvSpPr/>
          <p:nvPr/>
        </p:nvSpPr>
        <p:spPr>
          <a:xfrm>
            <a:off x="4754880" y="155448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B0C4CC"/>
                </a:solidFill>
              </a:rPr>
              <a:t>Mois 5–6</a:t>
            </a:r>
            <a:endParaRPr lang="en-US" sz="1000" dirty="0"/>
          </a:p>
        </p:txBody>
      </p:sp>
      <p:sp>
        <p:nvSpPr>
          <p:cNvPr id="36" name="Shape 26"/>
          <p:cNvSpPr/>
          <p:nvPr/>
        </p:nvSpPr>
        <p:spPr>
          <a:xfrm>
            <a:off x="4754880" y="2331720"/>
            <a:ext cx="2011680" cy="2560320"/>
          </a:xfrm>
          <a:prstGeom prst="rect">
            <a:avLst/>
          </a:prstGeom>
          <a:solidFill>
            <a:srgbClr val="028090">
              <a:alpha val="10000"/>
            </a:srgbClr>
          </a:solidFill>
          <a:ln/>
        </p:spPr>
      </p:sp>
      <p:sp>
        <p:nvSpPr>
          <p:cNvPr id="37" name="Shape 27"/>
          <p:cNvSpPr/>
          <p:nvPr/>
        </p:nvSpPr>
        <p:spPr>
          <a:xfrm>
            <a:off x="4754880" y="2331720"/>
            <a:ext cx="2011680" cy="54864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38" name="Text 28"/>
          <p:cNvSpPr/>
          <p:nvPr/>
        </p:nvSpPr>
        <p:spPr>
          <a:xfrm>
            <a:off x="4828032" y="2423160"/>
            <a:ext cx="18745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V1.1 Premium</a:t>
            </a:r>
            <a:endParaRPr lang="en-US" sz="1200" dirty="0"/>
          </a:p>
        </p:txBody>
      </p:sp>
      <p:pic>
        <p:nvPicPr>
          <p:cNvPr id="39" name="Image 8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46320" y="2880360"/>
            <a:ext cx="182880" cy="182880"/>
          </a:xfrm>
          <a:prstGeom prst="rect">
            <a:avLst/>
          </a:prstGeom>
        </p:spPr>
      </p:pic>
      <p:sp>
        <p:nvSpPr>
          <p:cNvPr id="40" name="Text 29"/>
          <p:cNvSpPr/>
          <p:nvPr/>
        </p:nvSpPr>
        <p:spPr>
          <a:xfrm>
            <a:off x="5102352" y="2862072"/>
            <a:ext cx="16276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B0C4CC"/>
                </a:solidFill>
              </a:rPr>
              <a:t>Recherche opt-in</a:t>
            </a:r>
            <a:endParaRPr lang="en-US" sz="1050" dirty="0"/>
          </a:p>
        </p:txBody>
      </p:sp>
      <p:pic>
        <p:nvPicPr>
          <p:cNvPr id="41" name="Image 9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46320" y="3319272"/>
            <a:ext cx="182880" cy="182880"/>
          </a:xfrm>
          <a:prstGeom prst="rect">
            <a:avLst/>
          </a:prstGeom>
        </p:spPr>
      </p:pic>
      <p:sp>
        <p:nvSpPr>
          <p:cNvPr id="42" name="Text 30"/>
          <p:cNvSpPr/>
          <p:nvPr/>
        </p:nvSpPr>
        <p:spPr>
          <a:xfrm>
            <a:off x="5102352" y="3300984"/>
            <a:ext cx="16276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B0C4CC"/>
                </a:solidFill>
              </a:rPr>
              <a:t>Garants intégrés</a:t>
            </a:r>
            <a:endParaRPr lang="en-US" sz="1050" dirty="0"/>
          </a:p>
        </p:txBody>
      </p:sp>
      <p:pic>
        <p:nvPicPr>
          <p:cNvPr id="43" name="Image 1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46320" y="3758184"/>
            <a:ext cx="182880" cy="182880"/>
          </a:xfrm>
          <a:prstGeom prst="rect">
            <a:avLst/>
          </a:prstGeom>
        </p:spPr>
      </p:pic>
      <p:sp>
        <p:nvSpPr>
          <p:cNvPr id="44" name="Text 31"/>
          <p:cNvSpPr/>
          <p:nvPr/>
        </p:nvSpPr>
        <p:spPr>
          <a:xfrm>
            <a:off x="5102352" y="3739896"/>
            <a:ext cx="16276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B0C4CC"/>
                </a:solidFill>
              </a:rPr>
              <a:t>App mobile (PWA)</a:t>
            </a:r>
            <a:endParaRPr lang="en-US" sz="1050" dirty="0"/>
          </a:p>
        </p:txBody>
      </p:sp>
      <p:pic>
        <p:nvPicPr>
          <p:cNvPr id="45" name="Image 1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46320" y="4197096"/>
            <a:ext cx="182880" cy="182880"/>
          </a:xfrm>
          <a:prstGeom prst="rect">
            <a:avLst/>
          </a:prstGeom>
        </p:spPr>
      </p:pic>
      <p:sp>
        <p:nvSpPr>
          <p:cNvPr id="46" name="Text 32"/>
          <p:cNvSpPr/>
          <p:nvPr/>
        </p:nvSpPr>
        <p:spPr>
          <a:xfrm>
            <a:off x="5102352" y="4178808"/>
            <a:ext cx="16276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B0C4CC"/>
                </a:solidFill>
              </a:rPr>
              <a:t>Matching IA locataires</a:t>
            </a:r>
            <a:endParaRPr lang="en-US" sz="1050" dirty="0"/>
          </a:p>
        </p:txBody>
      </p:sp>
      <p:sp>
        <p:nvSpPr>
          <p:cNvPr id="47" name="Shape 33"/>
          <p:cNvSpPr/>
          <p:nvPr/>
        </p:nvSpPr>
        <p:spPr>
          <a:xfrm>
            <a:off x="7726680" y="1901952"/>
            <a:ext cx="256032" cy="256032"/>
          </a:xfrm>
          <a:prstGeom prst="line">
            <a:avLst/>
          </a:prstGeom>
          <a:solidFill>
            <a:srgbClr val="1E6B7A"/>
          </a:solidFill>
          <a:ln/>
        </p:spPr>
      </p:sp>
      <p:sp>
        <p:nvSpPr>
          <p:cNvPr id="48" name="Text 34"/>
          <p:cNvSpPr/>
          <p:nvPr/>
        </p:nvSpPr>
        <p:spPr>
          <a:xfrm>
            <a:off x="6903720" y="155448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B0C4CC"/>
                </a:solidFill>
              </a:rPr>
              <a:t>Mois 7–12</a:t>
            </a:r>
            <a:endParaRPr lang="en-US" sz="1000" dirty="0"/>
          </a:p>
        </p:txBody>
      </p:sp>
      <p:sp>
        <p:nvSpPr>
          <p:cNvPr id="49" name="Shape 35"/>
          <p:cNvSpPr/>
          <p:nvPr/>
        </p:nvSpPr>
        <p:spPr>
          <a:xfrm>
            <a:off x="6903720" y="2331720"/>
            <a:ext cx="2011680" cy="2560320"/>
          </a:xfrm>
          <a:prstGeom prst="rect">
            <a:avLst/>
          </a:prstGeom>
          <a:solidFill>
            <a:srgbClr val="028090">
              <a:alpha val="10000"/>
            </a:srgbClr>
          </a:solidFill>
          <a:ln/>
        </p:spPr>
      </p:sp>
      <p:sp>
        <p:nvSpPr>
          <p:cNvPr id="50" name="Shape 36"/>
          <p:cNvSpPr/>
          <p:nvPr/>
        </p:nvSpPr>
        <p:spPr>
          <a:xfrm>
            <a:off x="6903720" y="2331720"/>
            <a:ext cx="2011680" cy="54864"/>
          </a:xfrm>
          <a:prstGeom prst="rect">
            <a:avLst/>
          </a:prstGeom>
          <a:solidFill>
            <a:srgbClr val="1E6B7A"/>
          </a:solidFill>
          <a:ln/>
        </p:spPr>
      </p:sp>
      <p:sp>
        <p:nvSpPr>
          <p:cNvPr id="51" name="Text 37"/>
          <p:cNvSpPr/>
          <p:nvPr/>
        </p:nvSpPr>
        <p:spPr>
          <a:xfrm>
            <a:off x="6976872" y="2423160"/>
            <a:ext cx="18745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&amp; Expansion</a:t>
            </a:r>
            <a:endParaRPr lang="en-US" sz="1200" dirty="0"/>
          </a:p>
        </p:txBody>
      </p:sp>
      <p:pic>
        <p:nvPicPr>
          <p:cNvPr id="52" name="Image 1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95160" y="2880360"/>
            <a:ext cx="182880" cy="182880"/>
          </a:xfrm>
          <a:prstGeom prst="rect">
            <a:avLst/>
          </a:prstGeom>
        </p:spPr>
      </p:pic>
      <p:sp>
        <p:nvSpPr>
          <p:cNvPr id="53" name="Text 38"/>
          <p:cNvSpPr/>
          <p:nvPr/>
        </p:nvSpPr>
        <p:spPr>
          <a:xfrm>
            <a:off x="7251192" y="2862072"/>
            <a:ext cx="16276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B0C4CC"/>
                </a:solidFill>
              </a:rPr>
              <a:t>Banques &amp; assurances</a:t>
            </a:r>
            <a:endParaRPr lang="en-US" sz="1050" dirty="0"/>
          </a:p>
        </p:txBody>
      </p:sp>
      <p:pic>
        <p:nvPicPr>
          <p:cNvPr id="54" name="Image 1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95160" y="3319272"/>
            <a:ext cx="182880" cy="182880"/>
          </a:xfrm>
          <a:prstGeom prst="rect">
            <a:avLst/>
          </a:prstGeom>
        </p:spPr>
      </p:pic>
      <p:sp>
        <p:nvSpPr>
          <p:cNvPr id="55" name="Text 39"/>
          <p:cNvSpPr/>
          <p:nvPr/>
        </p:nvSpPr>
        <p:spPr>
          <a:xfrm>
            <a:off x="7251192" y="3300984"/>
            <a:ext cx="16276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B0C4CC"/>
                </a:solidFill>
              </a:rPr>
              <a:t>Module RH</a:t>
            </a:r>
            <a:endParaRPr lang="en-US" sz="1050" dirty="0"/>
          </a:p>
        </p:txBody>
      </p:sp>
      <p:pic>
        <p:nvPicPr>
          <p:cNvPr id="56" name="Image 14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95160" y="3758184"/>
            <a:ext cx="182880" cy="182880"/>
          </a:xfrm>
          <a:prstGeom prst="rect">
            <a:avLst/>
          </a:prstGeom>
        </p:spPr>
      </p:pic>
      <p:sp>
        <p:nvSpPr>
          <p:cNvPr id="57" name="Text 40"/>
          <p:cNvSpPr/>
          <p:nvPr/>
        </p:nvSpPr>
        <p:spPr>
          <a:xfrm>
            <a:off x="7251192" y="3739896"/>
            <a:ext cx="16276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B0C4CC"/>
                </a:solidFill>
              </a:rPr>
              <a:t>API partenaires</a:t>
            </a:r>
            <a:endParaRPr lang="en-US" sz="1050" dirty="0"/>
          </a:p>
        </p:txBody>
      </p:sp>
      <p:pic>
        <p:nvPicPr>
          <p:cNvPr id="58" name="Image 15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95160" y="4197096"/>
            <a:ext cx="182880" cy="182880"/>
          </a:xfrm>
          <a:prstGeom prst="rect">
            <a:avLst/>
          </a:prstGeom>
        </p:spPr>
      </p:pic>
      <p:sp>
        <p:nvSpPr>
          <p:cNvPr id="59" name="Text 41"/>
          <p:cNvSpPr/>
          <p:nvPr/>
        </p:nvSpPr>
        <p:spPr>
          <a:xfrm>
            <a:off x="7251192" y="4178808"/>
            <a:ext cx="16276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B0C4CC"/>
                </a:solidFill>
              </a:rPr>
              <a:t>International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D213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926080"/>
            <a:ext cx="9144000" cy="221742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57200"/>
            <a:ext cx="77724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Prêt à transformer</a:t>
            </a:r>
            <a:endParaRPr lang="en-US" sz="3800" dirty="0"/>
          </a:p>
          <a:p>
            <a:pPr marL="0" indent="0" algn="ctr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votre gestion locative ?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914400" y="2148840"/>
            <a:ext cx="7315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B0C4CC"/>
                </a:solidFill>
              </a:rPr>
              <a:t>Rejoignez les agences pilotes PourAccord et co-construisez</a:t>
            </a:r>
            <a:endParaRPr lang="en-US" sz="1500" dirty="0"/>
          </a:p>
          <a:p>
            <a:pPr marL="0" indent="0" algn="ctr">
              <a:buNone/>
            </a:pPr>
            <a:r>
              <a:rPr lang="en-US" sz="1500" dirty="0">
                <a:solidFill>
                  <a:srgbClr val="B0C4CC"/>
                </a:solidFill>
              </a:rPr>
              <a:t>le nouveau standard du dossier locataire en France.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2286000" y="3108960"/>
            <a:ext cx="2286000" cy="640080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6" name="Text 4"/>
          <p:cNvSpPr/>
          <p:nvPr/>
        </p:nvSpPr>
        <p:spPr>
          <a:xfrm>
            <a:off x="2286000" y="310896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D2137"/>
                </a:solidFill>
              </a:rPr>
              <a:t>Demander une démo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754880" y="3108960"/>
            <a:ext cx="2286000" cy="640080"/>
          </a:xfrm>
          <a:prstGeom prst="rect">
            <a:avLst/>
          </a:prstGeom>
          <a:solidFill>
            <a:srgbClr val="FFFFFF">
              <a:alpha val="15000"/>
            </a:srgbClr>
          </a:solidFill>
          <a:ln/>
        </p:spPr>
      </p:sp>
      <p:sp>
        <p:nvSpPr>
          <p:cNvPr id="8" name="Text 6"/>
          <p:cNvSpPr/>
          <p:nvPr/>
        </p:nvSpPr>
        <p:spPr>
          <a:xfrm>
            <a:off x="4754880" y="310896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Devenir partenaire</a:t>
            </a:r>
            <a:endParaRPr lang="en-US" sz="1300" dirty="0"/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17520" y="4023360"/>
            <a:ext cx="320040" cy="292608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3429000" y="4041648"/>
            <a:ext cx="3200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</a:rPr>
              <a:t>contact@pouraccord.com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0" y="470916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FFFFFF"/>
                </a:solidFill>
              </a:rPr>
              <a:t>pouraccord.com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</TotalTime>
  <Words>774</Words>
  <Application>Microsoft Macintosh PowerPoint</Application>
  <PresentationFormat>Affichage à l'écran (16:9)</PresentationFormat>
  <Paragraphs>198</Paragraphs>
  <Slides>10</Slides>
  <Notes>10</Notes>
  <HiddenSlides>0</HiddenSlides>
  <MMClips>0</MMClips>
  <ScaleCrop>false</ScaleCrop>
  <HeadingPairs>
    <vt:vector size="6" baseType="variant">
      <vt:variant>
        <vt:lpstr>Polices utilisées</vt:lpstr>
      </vt:variant>
      <vt:variant>
        <vt:i4>2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PourAccord – Pitch Deck</dc:title>
  <dc:subject>PptxGenJS Presentation</dc:subject>
  <dc:creator>PourAccord</dc:creator>
  <cp:lastModifiedBy>Frédéric DETEZ</cp:lastModifiedBy>
  <cp:revision>4</cp:revision>
  <dcterms:created xsi:type="dcterms:W3CDTF">2026-02-17T16:05:46Z</dcterms:created>
  <dcterms:modified xsi:type="dcterms:W3CDTF">2026-02-17T16:18:19Z</dcterms:modified>
</cp:coreProperties>
</file>