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3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4639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457200"/>
            <a:ext cx="3200400" cy="6400800"/>
          </a:xfrm>
          <a:prstGeom prst="rect">
            <a:avLst/>
          </a:prstGeom>
          <a:solidFill>
            <a:srgbClr val="028090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1371600"/>
            <a:ext cx="2286000" cy="4114800"/>
          </a:xfrm>
          <a:prstGeom prst="rect">
            <a:avLst/>
          </a:prstGeom>
          <a:solidFill>
            <a:srgbClr val="02C39A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97280"/>
            <a:ext cx="347472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0D2137"/>
                </a:solidFill>
              </a:rPr>
              <a:t>PLATEFORME DE DOSSIERS LOCATAIRES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PourAccord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Arrêtez de trier des documents.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Commencez à choisir.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3794760"/>
            <a:ext cx="1645920" cy="45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233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CC"/>
                </a:solidFill>
              </a:rPr>
              <a:t>Février 2026  ·  Partenariats Agences – Phase Pilote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381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</a:rPr>
              <a:t>pouraccord.com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LE PROBLÈME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dossier locataire vous coûte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temps, des risques et de la conformité.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0116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37360"/>
            <a:ext cx="64008" cy="28346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745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 minimum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dossier à trier, vérifier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classer manuellement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06040" y="1737360"/>
            <a:ext cx="20116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606040" y="1737360"/>
            <a:ext cx="64008" cy="28346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87452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97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hétérogènes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724912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PDFs, scans, photos : aucun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entre candidats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754880" y="1737360"/>
            <a:ext cx="20116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54880" y="1737360"/>
            <a:ext cx="64008" cy="28346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87452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84632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Fraudes non détectées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873752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de paie ou pièces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falsifiées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plus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plus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difficiles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repérer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903720" y="1737360"/>
            <a:ext cx="20116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03720" y="1737360"/>
            <a:ext cx="64008" cy="28346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187452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99516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RGPD majeurs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7022592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prolongé de données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personnelles sensibles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26" name="Text 20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</a:rPr>
              <a:t>23 % des dossiers falsifiés à Paris et petite couronne · +20 % en province en un an   —   Source : Imodirect / facilogi.com, 2024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3200400" cy="5143500"/>
          </a:xfrm>
          <a:prstGeom prst="rect">
            <a:avLst/>
          </a:prstGeom>
          <a:solidFill>
            <a:srgbClr val="028090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LA SOLUTION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PourAccord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qui centralise, standardise et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pré-vérifie les dossiers locataires par IA.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011680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19456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Locataire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Constitue son dossier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fois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Locataire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2697480"/>
            <a:ext cx="54864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2578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2C39A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063240" y="2057400"/>
            <a:ext cx="2377440" cy="13716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3063240" y="21488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2137"/>
                </a:solidFill>
              </a:rPr>
              <a:t>PourAccord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63240" y="246888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anti-fraude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532120" y="2578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2C39A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897880" y="2194560"/>
            <a:ext cx="2011680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589788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97880" y="25146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préqualifié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en 2 clics</a:t>
            </a:r>
            <a:endParaRPr lang="en-US" sz="110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03320"/>
            <a:ext cx="256032" cy="2560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22960" y="367588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CC"/>
                </a:solidFill>
              </a:rPr>
              <a:t>Dossiers standardisés, vérifiés et scorés automatiquement</a:t>
            </a:r>
            <a:endParaRPr lang="en-US" sz="12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87368"/>
            <a:ext cx="256032" cy="25603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22960" y="405993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CC"/>
                </a:solidFill>
              </a:rPr>
              <a:t>Zéro email volumineux, zéro scan illisible</a:t>
            </a:r>
            <a:endParaRPr lang="en-US" sz="12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471416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22960" y="444398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CC"/>
                </a:solidFill>
              </a:rPr>
              <a:t>Traçabilité complète : qui a consulté quoi, quand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VOS BÉNÉFICES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raisons de rejoindre PourAccord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0116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2011680" cy="10058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4630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temps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468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min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48640" y="2944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économisées / dossier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66928" y="3273552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 le tri manuel. Chaque dossier arrive standardisé, complet et scoré automatiquement.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606040" y="1371600"/>
            <a:ext cx="20116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06040" y="1371600"/>
            <a:ext cx="2011680" cy="1005840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9192" y="146304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697480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fraude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697480" y="2468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1/5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2697480" y="2944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falsifiés à Paris*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2715768" y="3273552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multicouche : OCR, </a:t>
            </a:r>
            <a:r>
              <a:rPr lang="fr-FR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SIRET,NIR…, cohérence inter-documents.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*Imodirect, 2023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754880" y="1371600"/>
            <a:ext cx="20116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754880" y="1371600"/>
            <a:ext cx="2011680" cy="1005840"/>
          </a:xfrm>
          <a:prstGeom prst="rect">
            <a:avLst/>
          </a:prstGeom>
          <a:solidFill>
            <a:srgbClr val="1E6B7A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146304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846320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846320" y="2468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K€</a:t>
            </a:r>
            <a:endParaRPr lang="en-US" sz="2600" dirty="0"/>
          </a:p>
        </p:txBody>
      </p:sp>
      <p:sp>
        <p:nvSpPr>
          <p:cNvPr id="24" name="Text 19"/>
          <p:cNvSpPr/>
          <p:nvPr/>
        </p:nvSpPr>
        <p:spPr>
          <a:xfrm>
            <a:off x="4846320" y="2944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amende CNIL dans l'immo*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864608" y="3273552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</a:t>
            </a:r>
            <a:r>
              <a:rPr lang="en-US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automatique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documents, logs d'accès, consentements gérés.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*CNIL vs Sergic, 2019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6903720" y="1371600"/>
            <a:ext cx="20116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903720" y="1371600"/>
            <a:ext cx="2011680" cy="1005840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6872" y="146304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95160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Vivier qualifiés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6995160" y="2468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+20 %</a:t>
            </a:r>
            <a:endParaRPr lang="en-US" sz="2600" dirty="0"/>
          </a:p>
        </p:txBody>
      </p:sp>
      <p:sp>
        <p:nvSpPr>
          <p:cNvPr id="31" name="Text 25"/>
          <p:cNvSpPr/>
          <p:nvPr/>
        </p:nvSpPr>
        <p:spPr>
          <a:xfrm>
            <a:off x="6995160" y="2944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hausse de la fraude/an*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7013448" y="3273552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Accédez uniquement à des candidats pré-vérifiés.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*Imodirect / facilogi.com, 2024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FONCTIONNEMENT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pour vous, puissant pour vos candidats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188720" y="1234440"/>
            <a:ext cx="685800" cy="685800"/>
          </a:xfrm>
          <a:prstGeom prst="lin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234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2137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086100" y="2122691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B0C4CC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locataire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construit son dossier</a:t>
            </a:r>
            <a:endParaRPr 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788920"/>
            <a:ext cx="210312" cy="2103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276148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gratuite sur PourAccord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200400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68680" y="3172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Chargement</a:t>
            </a: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fr-FR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assisté</a:t>
            </a: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ses documents</a:t>
            </a:r>
            <a:endParaRPr lang="en-US" sz="11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11880"/>
            <a:ext cx="210312" cy="2103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68680" y="35844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IA immédiate et scoring</a:t>
            </a:r>
            <a:endParaRPr lang="en-US" sz="11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023360"/>
            <a:ext cx="210312" cy="21031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399592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certifié en quelques minutes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023360" y="1234440"/>
            <a:ext cx="685800" cy="685800"/>
          </a:xfrm>
          <a:prstGeom prst="line">
            <a:avLst/>
          </a:prstGeom>
          <a:solidFill>
            <a:srgbClr val="00A896"/>
          </a:solidFill>
          <a:ln/>
        </p:spPr>
      </p:sp>
      <p:sp>
        <p:nvSpPr>
          <p:cNvPr id="18" name="Text 12"/>
          <p:cNvSpPr/>
          <p:nvPr/>
        </p:nvSpPr>
        <p:spPr>
          <a:xfrm>
            <a:off x="4023360" y="1234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2137"/>
                </a:solidFill>
              </a:rPr>
              <a:t>2</a:t>
            </a:r>
            <a:endParaRPr lang="en-US" sz="2400" dirty="0"/>
          </a:p>
        </p:txBody>
      </p:sp>
      <p:sp>
        <p:nvSpPr>
          <p:cNvPr id="19" name="Text 13"/>
          <p:cNvSpPr/>
          <p:nvPr/>
        </p:nvSpPr>
        <p:spPr>
          <a:xfrm>
            <a:off x="5920740" y="2122691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B0C4CC"/>
                </a:solidFill>
              </a:rPr>
              <a:t>→</a:t>
            </a:r>
            <a:endParaRPr lang="en-US" sz="2200" dirty="0"/>
          </a:p>
        </p:txBody>
      </p:sp>
      <p:sp>
        <p:nvSpPr>
          <p:cNvPr id="20" name="Text 14"/>
          <p:cNvSpPr/>
          <p:nvPr/>
        </p:nvSpPr>
        <p:spPr>
          <a:xfrm>
            <a:off x="3291840" y="19659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partage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lien sécurisé</a:t>
            </a:r>
            <a:endParaRPr lang="en-US" sz="14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2788920"/>
            <a:ext cx="210312" cy="21031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03320" y="276148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lien, valable 30 jours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3200400"/>
            <a:ext cx="210312" cy="21031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3703320" y="3172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total du locataire</a:t>
            </a:r>
            <a:endParaRPr lang="en-US" sz="11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3611880"/>
            <a:ext cx="210312" cy="2103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3703320" y="35844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à l'agence à l'envoi</a:t>
            </a:r>
            <a:endParaRPr lang="en-US" sz="11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4023360"/>
            <a:ext cx="210312" cy="210312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3703320" y="399592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des accès</a:t>
            </a:r>
            <a:endParaRPr lang="en-US" sz="1100" dirty="0"/>
          </a:p>
        </p:txBody>
      </p:sp>
      <p:sp>
        <p:nvSpPr>
          <p:cNvPr id="29" name="Shape 19"/>
          <p:cNvSpPr/>
          <p:nvPr/>
        </p:nvSpPr>
        <p:spPr>
          <a:xfrm>
            <a:off x="6858000" y="1234440"/>
            <a:ext cx="685800" cy="685800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0" name="Text 20"/>
          <p:cNvSpPr/>
          <p:nvPr/>
        </p:nvSpPr>
        <p:spPr>
          <a:xfrm>
            <a:off x="6858000" y="1234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2137"/>
                </a:solidFill>
              </a:rPr>
              <a:t>3</a:t>
            </a:r>
            <a:endParaRPr lang="en-US" sz="2400" dirty="0"/>
          </a:p>
        </p:txBody>
      </p:sp>
      <p:sp>
        <p:nvSpPr>
          <p:cNvPr id="31" name="Text 21"/>
          <p:cNvSpPr/>
          <p:nvPr/>
        </p:nvSpPr>
        <p:spPr>
          <a:xfrm>
            <a:off x="6126480" y="19659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accédez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dossier qualifié</a:t>
            </a:r>
            <a:endParaRPr lang="en-US" sz="1400" dirty="0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788920"/>
            <a:ext cx="210312" cy="210312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537960" y="276148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global + points de vigilance</a:t>
            </a:r>
            <a:endParaRPr lang="en-US" sz="1100" dirty="0"/>
          </a:p>
        </p:txBody>
      </p:sp>
      <p:pic>
        <p:nvPicPr>
          <p:cNvPr id="34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200400"/>
            <a:ext cx="210312" cy="210312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6537960" y="3172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vérifiés et lisibles</a:t>
            </a:r>
            <a:endParaRPr lang="en-US" sz="1100" dirty="0"/>
          </a:p>
        </p:txBody>
      </p:sp>
      <p:pic>
        <p:nvPicPr>
          <p:cNvPr id="36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611880"/>
            <a:ext cx="210312" cy="210312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537960" y="35844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synthèse automatique</a:t>
            </a:r>
            <a:endParaRPr lang="en-US" sz="1100" dirty="0"/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23360"/>
            <a:ext cx="210312" cy="210312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537960" y="399592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rapide, responsabilité protégée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NOTRE DIFFÉRENCIATEUR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IA anti-fraude à 7 niveaux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vos concurrents n'ont pas.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400800" y="274320"/>
            <a:ext cx="2468880" cy="4572000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0" y="5029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C4CC"/>
                </a:solidFill>
              </a:rPr>
              <a:t>Score global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0" y="8686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64008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8090"/>
                </a:solidFill>
              </a:rPr>
              <a:t>/ 100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629400" y="2331720"/>
            <a:ext cx="2011680" cy="45720"/>
          </a:xfrm>
          <a:prstGeom prst="rect">
            <a:avLst/>
          </a:prstGeom>
          <a:solidFill>
            <a:srgbClr val="028090">
              <a:alpha val="5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25420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CC"/>
                </a:solidFill>
              </a:rPr>
              <a:t>Identité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92240" y="2770632"/>
            <a:ext cx="2103120" cy="91440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492240" y="2770632"/>
            <a:ext cx="1997964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254203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C39A"/>
                </a:solidFill>
              </a:rPr>
              <a:t>95%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9992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CC"/>
                </a:solidFill>
              </a:rPr>
              <a:t>Revenus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3227832"/>
            <a:ext cx="2103120" cy="91440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492240" y="3227832"/>
            <a:ext cx="1892808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99923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C39A"/>
                </a:solidFill>
              </a:rPr>
              <a:t>90%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92240" y="34564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CC"/>
                </a:solidFill>
              </a:rPr>
              <a:t>Stabilité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92240" y="3685032"/>
            <a:ext cx="2103120" cy="91440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3685032"/>
            <a:ext cx="1850746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345643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C39A"/>
                </a:solidFill>
              </a:rPr>
              <a:t>88%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92240" y="39136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CC"/>
                </a:solidFill>
              </a:rPr>
              <a:t>Cohérence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92240" y="4142232"/>
            <a:ext cx="2103120" cy="91440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6492240" y="4142232"/>
            <a:ext cx="1976933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0" y="391363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C39A"/>
                </a:solidFill>
              </a:rPr>
              <a:t>94%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1737360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1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896112" y="16916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Exhaustivité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96112" y="19659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Tous les documents requis sont présents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2487168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2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896112" y="244144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Conformité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96112" y="271576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Format, lisibilité, résolution OCR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236976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3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896112" y="3191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Validité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96112" y="346557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NIR, SIRET, MRZ vérifiés algorithmiquement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86784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3986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4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40" name="Text 38"/>
          <p:cNvSpPr/>
          <p:nvPr/>
        </p:nvSpPr>
        <p:spPr>
          <a:xfrm>
            <a:off x="896112" y="394106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Authenticité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96112" y="421538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Existence entreprise via API INSEE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91840" y="1737360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43" name="Text 41"/>
          <p:cNvSpPr/>
          <p:nvPr/>
        </p:nvSpPr>
        <p:spPr>
          <a:xfrm>
            <a:off x="32918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5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44" name="Text 42"/>
          <p:cNvSpPr/>
          <p:nvPr/>
        </p:nvSpPr>
        <p:spPr>
          <a:xfrm>
            <a:off x="3730752" y="16916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Cohérence intra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730752" y="19659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Données cohérentes au sein d'un document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91840" y="2487168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47" name="Text 45"/>
          <p:cNvSpPr/>
          <p:nvPr/>
        </p:nvSpPr>
        <p:spPr>
          <a:xfrm>
            <a:off x="329184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6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48" name="Text 46"/>
          <p:cNvSpPr/>
          <p:nvPr/>
        </p:nvSpPr>
        <p:spPr>
          <a:xfrm>
            <a:off x="3730752" y="244144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Cohérence inter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3730752" y="271576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Cohérence croisée entre tous les documents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91840" y="3236976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51" name="Text 49"/>
          <p:cNvSpPr/>
          <p:nvPr/>
        </p:nvSpPr>
        <p:spPr>
          <a:xfrm>
            <a:off x="3291840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7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52" name="Text 50"/>
          <p:cNvSpPr/>
          <p:nvPr/>
        </p:nvSpPr>
        <p:spPr>
          <a:xfrm>
            <a:off x="3730752" y="3191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Intégrité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3730752" y="346557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Détection métadonnées et altérations suspectes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LE MARCHÉ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marché locatif sous tension,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pour la digitalisation.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2468880" cy="2011680"/>
          </a:xfrm>
          <a:prstGeom prst="rect">
            <a:avLst/>
          </a:prstGeom>
          <a:solidFill>
            <a:srgbClr val="028090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691640"/>
            <a:ext cx="2468880" cy="640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745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~30 000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agences immobilières en France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063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Source : FNAIM / imop.fr, 2025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0" y="1691640"/>
            <a:ext cx="2468880" cy="2011680"/>
          </a:xfrm>
          <a:prstGeom prst="rect">
            <a:avLst/>
          </a:prstGeom>
          <a:solidFill>
            <a:srgbClr val="028090">
              <a:alpha val="1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474720" y="1691640"/>
            <a:ext cx="2468880" cy="640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8745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dossier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5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47472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contient un faux document (Paris)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3063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Source : Imodirect, 2023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691640"/>
            <a:ext cx="2468880" cy="2011680"/>
          </a:xfrm>
          <a:prstGeom prst="rect">
            <a:avLst/>
          </a:prstGeom>
          <a:solidFill>
            <a:srgbClr val="028090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691640"/>
            <a:ext cx="2468880" cy="640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8745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400 000€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21792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d'amende RGPD dans l'immobilier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0" y="3063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Source : CNIL vs Sergic, 2019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100584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</a:rPr>
              <a:t>La fraude a bondi de +20 % entre 2022 et 2023 en province, +15 % à Paris</a:t>
            </a:r>
            <a:r>
              <a:rPr lang="en-US" sz="1200" i="1" dirty="0">
                <a:solidFill>
                  <a:srgbClr val="B0C4CC"/>
                </a:solidFill>
              </a:rPr>
              <a:t>  —  Imodirect / facilogi.com, 2024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4074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</a:rPr>
              <a:t>Gestion locative = 35 % du CA des professionnels de l'immobilier</a:t>
            </a:r>
            <a:r>
              <a:rPr lang="en-US" sz="1200" i="1" dirty="0">
                <a:solidFill>
                  <a:srgbClr val="B0C4CC"/>
                </a:solidFill>
              </a:rPr>
              <a:t>  —  LocService / modelesdebusinessplan.com, 2023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PARTENARIAT PILOTE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Rejoignez les premières agences PourAccord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0" cy="3474720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087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obtenez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1168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19933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Accès anticipé à la plateforme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42316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" y="240487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Influence directe sur les fonctionnalités</a:t>
            </a:r>
            <a:endParaRPr lang="en-US" sz="12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83464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14400" y="28163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Accompagnement dédié à l'onboarding</a:t>
            </a:r>
            <a:endParaRPr lang="en-US" sz="12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246120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14400" y="32278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Tarif préférentiel garanti </a:t>
            </a:r>
            <a:r>
              <a:rPr lang="en-US" sz="1200" dirty="0" err="1">
                <a:solidFill>
                  <a:srgbClr val="FFFFFF"/>
                </a:solidFill>
              </a:rPr>
              <a:t>à</a:t>
            </a:r>
            <a:r>
              <a:rPr lang="en-US" sz="1200" dirty="0">
                <a:solidFill>
                  <a:srgbClr val="FFFFFF"/>
                </a:solidFill>
              </a:rPr>
              <a:t> vie</a:t>
            </a:r>
            <a:endParaRPr lang="en-US" sz="12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5760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914400" y="36393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Co-construction du produit avec l'équipe</a:t>
            </a:r>
            <a:endParaRPr lang="en-US" sz="12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069080"/>
            <a:ext cx="228600" cy="22860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914400" y="40507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Statut de partenaire fondateur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4754880" y="1371600"/>
            <a:ext cx="4114800" cy="3474720"/>
          </a:xfrm>
          <a:prstGeom prst="rect">
            <a:avLst/>
          </a:prstGeom>
          <a:solidFill>
            <a:srgbClr val="F0F7F8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4754880" y="1371600"/>
            <a:ext cx="4114800" cy="6400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1" name="Text 13"/>
          <p:cNvSpPr/>
          <p:nvPr/>
        </p:nvSpPr>
        <p:spPr>
          <a:xfrm>
            <a:off x="4846320" y="15087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vous demandons</a:t>
            </a:r>
            <a:endParaRPr lang="en-US" sz="14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029968"/>
            <a:ext cx="256032" cy="2286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230368" y="20116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137"/>
                </a:solidFill>
              </a:rPr>
              <a:t>Tester PourAccord sur vos vrais dossiers</a:t>
            </a:r>
            <a:endParaRPr lang="en-US" sz="12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532888"/>
            <a:ext cx="256032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230368" y="2514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137"/>
                </a:solidFill>
              </a:rPr>
              <a:t>Partager vos retours régulièrement</a:t>
            </a:r>
            <a:endParaRPr lang="en-US" sz="120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35808"/>
            <a:ext cx="256032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5230368" y="3017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137"/>
                </a:solidFill>
              </a:rPr>
              <a:t>Nous présenter à votre réseau si satisfaits</a:t>
            </a:r>
            <a:endParaRPr lang="en-US" sz="120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538728"/>
            <a:ext cx="256032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5230368" y="3520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137"/>
                </a:solidFill>
              </a:rPr>
              <a:t>Témoignage client (optionnel)</a:t>
            </a:r>
            <a:endParaRPr lang="en-US" sz="1200" dirty="0"/>
          </a:p>
        </p:txBody>
      </p:sp>
      <p:sp>
        <p:nvSpPr>
          <p:cNvPr id="30" name="Shape 18"/>
          <p:cNvSpPr/>
          <p:nvPr/>
        </p:nvSpPr>
        <p:spPr>
          <a:xfrm>
            <a:off x="457200" y="4663440"/>
            <a:ext cx="8366760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1" name="Text 19"/>
          <p:cNvSpPr/>
          <p:nvPr/>
        </p:nvSpPr>
        <p:spPr>
          <a:xfrm>
            <a:off x="457200" y="4663440"/>
            <a:ext cx="8366760" cy="347472"/>
          </a:xfrm>
          <a:prstGeom prst="rect">
            <a:avLst/>
          </a:prstGeom>
          <a:noFill/>
          <a:ln/>
        </p:spPr>
        <p:txBody>
          <a:bodyPr wrap="square" lIns="0" tIns="2540" rIns="254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→  Nous cherchons 10 agences pilotes pour co-construire le futur standard du dossier locataire.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ROADMAP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beta à la plateforme de référence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8229600" cy="45720"/>
          </a:xfrm>
          <a:prstGeom prst="rect">
            <a:avLst/>
          </a:prstGeom>
          <a:solidFill>
            <a:srgbClr val="028090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1901952"/>
            <a:ext cx="256032" cy="256032"/>
          </a:xfrm>
          <a:prstGeom prst="lin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4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Mois 1–3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2011680" cy="256032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331720"/>
            <a:ext cx="201168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423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&amp; Beta Privée</a:t>
            </a:r>
            <a:endParaRPr lang="en-US" sz="12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18288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04672" y="2862072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FFFFFF"/>
                </a:solidFill>
              </a:rPr>
              <a:t>Sécurisation</a:t>
            </a:r>
            <a:r>
              <a:rPr lang="en-US" sz="1050" dirty="0">
                <a:solidFill>
                  <a:srgbClr val="FFFFFF"/>
                </a:solidFill>
              </a:rPr>
              <a:t> Infrastructure</a:t>
            </a:r>
            <a:endParaRPr lang="en-US" sz="105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19272"/>
            <a:ext cx="182880" cy="1828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04672" y="3300984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FFFFFF"/>
                </a:solidFill>
              </a:rPr>
              <a:t>Chargement</a:t>
            </a:r>
            <a:r>
              <a:rPr lang="en-US" sz="1050" dirty="0">
                <a:solidFill>
                  <a:srgbClr val="FFFFFF"/>
                </a:solidFill>
              </a:rPr>
              <a:t> &amp; analyse IA</a:t>
            </a:r>
            <a:endParaRPr lang="en-US" sz="10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58184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04672" y="3739896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Module agence</a:t>
            </a:r>
            <a:endParaRPr lang="en-US" sz="10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97096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04672" y="417880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RGPD complet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4754880"/>
            <a:ext cx="2011680" cy="2286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4"/>
          <p:cNvSpPr/>
          <p:nvPr/>
        </p:nvSpPr>
        <p:spPr>
          <a:xfrm>
            <a:off x="457200" y="4754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2137"/>
                </a:solidFill>
              </a:rPr>
              <a:t>VOUS ÊTES ICI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3429000" y="1901952"/>
            <a:ext cx="256032" cy="256032"/>
          </a:xfrm>
          <a:prstGeom prst="line">
            <a:avLst/>
          </a:prstGeom>
          <a:solidFill>
            <a:srgbClr val="00A896"/>
          </a:solidFill>
          <a:ln/>
        </p:spPr>
      </p:sp>
      <p:sp>
        <p:nvSpPr>
          <p:cNvPr id="22" name="Text 16"/>
          <p:cNvSpPr/>
          <p:nvPr/>
        </p:nvSpPr>
        <p:spPr>
          <a:xfrm>
            <a:off x="2606040" y="1554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Mois 4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606040" y="2331720"/>
            <a:ext cx="2011680" cy="256032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24" name="Shape 18"/>
          <p:cNvSpPr/>
          <p:nvPr/>
        </p:nvSpPr>
        <p:spPr>
          <a:xfrm>
            <a:off x="2606040" y="2331720"/>
            <a:ext cx="201168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5" name="Text 19"/>
          <p:cNvSpPr/>
          <p:nvPr/>
        </p:nvSpPr>
        <p:spPr>
          <a:xfrm>
            <a:off x="2679192" y="2423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 Public</a:t>
            </a:r>
            <a:endParaRPr lang="en-US" sz="12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2880360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953512" y="2862072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10–20 agences pilotes</a:t>
            </a:r>
            <a:endParaRPr lang="en-US" sz="10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3319272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2953512" y="3300984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Onboarding optimisé</a:t>
            </a:r>
            <a:endParaRPr lang="en-US" sz="105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3758184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2953512" y="3739896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Landing &amp; SEO</a:t>
            </a:r>
            <a:endParaRPr lang="en-US" sz="10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4197096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2953512" y="417880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Campagne acquisition</a:t>
            </a:r>
            <a:endParaRPr lang="en-US" sz="1050" dirty="0"/>
          </a:p>
        </p:txBody>
      </p:sp>
      <p:sp>
        <p:nvSpPr>
          <p:cNvPr id="34" name="Shape 24"/>
          <p:cNvSpPr/>
          <p:nvPr/>
        </p:nvSpPr>
        <p:spPr>
          <a:xfrm>
            <a:off x="5577840" y="1901952"/>
            <a:ext cx="256032" cy="256032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5" name="Text 25"/>
          <p:cNvSpPr/>
          <p:nvPr/>
        </p:nvSpPr>
        <p:spPr>
          <a:xfrm>
            <a:off x="4754880" y="1554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Mois 5–6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4754880" y="2331720"/>
            <a:ext cx="2011680" cy="256032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37" name="Shape 27"/>
          <p:cNvSpPr/>
          <p:nvPr/>
        </p:nvSpPr>
        <p:spPr>
          <a:xfrm>
            <a:off x="4754880" y="2331720"/>
            <a:ext cx="201168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8" name="Text 28"/>
          <p:cNvSpPr/>
          <p:nvPr/>
        </p:nvSpPr>
        <p:spPr>
          <a:xfrm>
            <a:off x="4828032" y="2423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 Premium</a:t>
            </a:r>
            <a:endParaRPr lang="en-US" sz="120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880360"/>
            <a:ext cx="182880" cy="182880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5102352" y="2862072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Recherche opt-in</a:t>
            </a:r>
            <a:endParaRPr lang="en-US" sz="10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319272"/>
            <a:ext cx="182880" cy="182880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5102352" y="3300984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Garants intégrés</a:t>
            </a:r>
            <a:endParaRPr lang="en-US" sz="10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758184"/>
            <a:ext cx="182880" cy="18288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5102352" y="3739896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App mobile (PWA)</a:t>
            </a:r>
            <a:endParaRPr lang="en-US" sz="105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4197096"/>
            <a:ext cx="182880" cy="182880"/>
          </a:xfrm>
          <a:prstGeom prst="rect">
            <a:avLst/>
          </a:prstGeom>
        </p:spPr>
      </p:pic>
      <p:sp>
        <p:nvSpPr>
          <p:cNvPr id="46" name="Text 32"/>
          <p:cNvSpPr/>
          <p:nvPr/>
        </p:nvSpPr>
        <p:spPr>
          <a:xfrm>
            <a:off x="5102352" y="417880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Matching IA locataires</a:t>
            </a:r>
            <a:endParaRPr lang="en-US" sz="1050" dirty="0"/>
          </a:p>
        </p:txBody>
      </p:sp>
      <p:sp>
        <p:nvSpPr>
          <p:cNvPr id="47" name="Shape 33"/>
          <p:cNvSpPr/>
          <p:nvPr/>
        </p:nvSpPr>
        <p:spPr>
          <a:xfrm>
            <a:off x="7726680" y="1901952"/>
            <a:ext cx="256032" cy="256032"/>
          </a:xfrm>
          <a:prstGeom prst="line">
            <a:avLst/>
          </a:prstGeom>
          <a:solidFill>
            <a:srgbClr val="1E6B7A"/>
          </a:solidFill>
          <a:ln/>
        </p:spPr>
      </p:sp>
      <p:sp>
        <p:nvSpPr>
          <p:cNvPr id="48" name="Text 34"/>
          <p:cNvSpPr/>
          <p:nvPr/>
        </p:nvSpPr>
        <p:spPr>
          <a:xfrm>
            <a:off x="6903720" y="1554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Mois 7–12</a:t>
            </a:r>
            <a:endParaRPr lang="en-US" sz="1000" dirty="0"/>
          </a:p>
        </p:txBody>
      </p:sp>
      <p:sp>
        <p:nvSpPr>
          <p:cNvPr id="49" name="Shape 35"/>
          <p:cNvSpPr/>
          <p:nvPr/>
        </p:nvSpPr>
        <p:spPr>
          <a:xfrm>
            <a:off x="6903720" y="2331720"/>
            <a:ext cx="2011680" cy="256032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50" name="Shape 36"/>
          <p:cNvSpPr/>
          <p:nvPr/>
        </p:nvSpPr>
        <p:spPr>
          <a:xfrm>
            <a:off x="6903720" y="2331720"/>
            <a:ext cx="2011680" cy="54864"/>
          </a:xfrm>
          <a:prstGeom prst="rect">
            <a:avLst/>
          </a:prstGeom>
          <a:solidFill>
            <a:srgbClr val="1E6B7A"/>
          </a:solidFill>
          <a:ln/>
        </p:spPr>
      </p:sp>
      <p:sp>
        <p:nvSpPr>
          <p:cNvPr id="51" name="Text 37"/>
          <p:cNvSpPr/>
          <p:nvPr/>
        </p:nvSpPr>
        <p:spPr>
          <a:xfrm>
            <a:off x="6976872" y="2423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Expansion</a:t>
            </a:r>
            <a:endParaRPr lang="en-US" sz="1200" dirty="0"/>
          </a:p>
        </p:txBody>
      </p:sp>
      <p:pic>
        <p:nvPicPr>
          <p:cNvPr id="52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2880360"/>
            <a:ext cx="182880" cy="182880"/>
          </a:xfrm>
          <a:prstGeom prst="rect">
            <a:avLst/>
          </a:prstGeom>
        </p:spPr>
      </p:pic>
      <p:sp>
        <p:nvSpPr>
          <p:cNvPr id="53" name="Text 38"/>
          <p:cNvSpPr/>
          <p:nvPr/>
        </p:nvSpPr>
        <p:spPr>
          <a:xfrm>
            <a:off x="7251192" y="2862072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Banques &amp; assurances</a:t>
            </a:r>
            <a:endParaRPr lang="en-US" sz="1050" dirty="0"/>
          </a:p>
        </p:txBody>
      </p:sp>
      <p:pic>
        <p:nvPicPr>
          <p:cNvPr id="54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3319272"/>
            <a:ext cx="182880" cy="182880"/>
          </a:xfrm>
          <a:prstGeom prst="rect">
            <a:avLst/>
          </a:prstGeom>
        </p:spPr>
      </p:pic>
      <p:sp>
        <p:nvSpPr>
          <p:cNvPr id="55" name="Text 39"/>
          <p:cNvSpPr/>
          <p:nvPr/>
        </p:nvSpPr>
        <p:spPr>
          <a:xfrm>
            <a:off x="7251192" y="3300984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Module RH</a:t>
            </a:r>
            <a:endParaRPr lang="en-US" sz="1050" dirty="0"/>
          </a:p>
        </p:txBody>
      </p:sp>
      <p:pic>
        <p:nvPicPr>
          <p:cNvPr id="56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3758184"/>
            <a:ext cx="182880" cy="182880"/>
          </a:xfrm>
          <a:prstGeom prst="rect">
            <a:avLst/>
          </a:prstGeom>
        </p:spPr>
      </p:pic>
      <p:sp>
        <p:nvSpPr>
          <p:cNvPr id="57" name="Text 40"/>
          <p:cNvSpPr/>
          <p:nvPr/>
        </p:nvSpPr>
        <p:spPr>
          <a:xfrm>
            <a:off x="7251192" y="3739896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API partenaires</a:t>
            </a:r>
            <a:endParaRPr lang="en-US" sz="1050" dirty="0"/>
          </a:p>
        </p:txBody>
      </p:sp>
      <p:pic>
        <p:nvPicPr>
          <p:cNvPr id="5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4197096"/>
            <a:ext cx="182880" cy="182880"/>
          </a:xfrm>
          <a:prstGeom prst="rect">
            <a:avLst/>
          </a:prstGeom>
        </p:spPr>
      </p:pic>
      <p:sp>
        <p:nvSpPr>
          <p:cNvPr id="59" name="Text 41"/>
          <p:cNvSpPr/>
          <p:nvPr/>
        </p:nvSpPr>
        <p:spPr>
          <a:xfrm>
            <a:off x="7251192" y="417880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International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926080"/>
            <a:ext cx="9144000" cy="22174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à transformer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gestion locative 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21488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B0C4CC"/>
                </a:solidFill>
              </a:rPr>
              <a:t>Rejoignez les agences pilotes PourAccord et co-construisez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B0C4CC"/>
                </a:solidFill>
              </a:rPr>
              <a:t>le nouveau standard du dossier locataire en France.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286000" y="3108960"/>
            <a:ext cx="2286000" cy="6400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2137"/>
                </a:solidFill>
              </a:rPr>
              <a:t>Demander une démo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3108960"/>
            <a:ext cx="2286000" cy="64008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Devenir partenaire</a:t>
            </a:r>
            <a:endParaRPr lang="en-US" sz="13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023360"/>
            <a:ext cx="320040" cy="2926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429000" y="40416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contact@pouraccord.com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0" y="47091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</a:rPr>
              <a:t>pouraccord.com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4252</TotalTime>
  <Words>773</Words>
  <Application>Microsoft Macintosh PowerPoint</Application>
  <PresentationFormat>Affichage à l'écran (16:9)</PresentationFormat>
  <Paragraphs>198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PourAccord – Pitch Deck</dc:title>
  <dc:subject>PptxGenJS Presentation</dc:subject>
  <dc:creator>PourAccord</dc:creator>
  <cp:lastModifiedBy>Frédéric DETEZ</cp:lastModifiedBy>
  <cp:revision>5</cp:revision>
  <dcterms:created xsi:type="dcterms:W3CDTF">2026-02-17T16:05:46Z</dcterms:created>
  <dcterms:modified xsi:type="dcterms:W3CDTF">2026-02-20T15:00:28Z</dcterms:modified>
</cp:coreProperties>
</file>