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Feuille_de_calcul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D1F3C"/>
                </a:solidFill>
                <a:latin typeface="Arial"/>
              </a:defRPr>
            </a:pPr>
            <a:r>
              <a:rPr lang="fr-FR" sz="1300" b="0" i="0" u="none" strike="noStrike">
                <a:solidFill>
                  <a:srgbClr val="0D1F3C"/>
                </a:solidFill>
                <a:latin typeface="Arial"/>
              </a:rPr>
              <a:t>MRR (€ HT)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(€ HT)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D1F3C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M6</c:v>
                </c:pt>
                <c:pt idx="1">
                  <c:v>M12</c:v>
                </c:pt>
                <c:pt idx="2">
                  <c:v>M18</c:v>
                </c:pt>
                <c:pt idx="3">
                  <c:v>M24</c:v>
                </c:pt>
                <c:pt idx="4">
                  <c:v>M30</c:v>
                </c:pt>
                <c:pt idx="5">
                  <c:v>M36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40000</c:v>
                </c:pt>
                <c:pt idx="1">
                  <c:v>100000</c:v>
                </c:pt>
                <c:pt idx="2">
                  <c:v>180000</c:v>
                </c:pt>
                <c:pt idx="3">
                  <c:v>250000</c:v>
                </c:pt>
                <c:pt idx="4">
                  <c:v>200000</c:v>
                </c:pt>
                <c:pt idx="5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C1-3F44-A4CE-640746275F8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1301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00A896">
              <a:alpha val="12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560320"/>
            <a:ext cx="2286000" cy="2286000"/>
          </a:xfrm>
          <a:prstGeom prst="ellipse">
            <a:avLst/>
          </a:prstGeom>
          <a:solidFill>
            <a:srgbClr val="02C39A">
              <a:alpha val="1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de confiance pour les dossiers locatifs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11480" y="1691640"/>
            <a:ext cx="32004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8745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Révolutionner la gestion de dossiers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grâce à l'IA anti-fraude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30 000+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1148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addressable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4612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24612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mensuel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32918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B2B2C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80760" y="3840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SaaS récurrent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CONFIDENTIEL — INVESTISSEURS   |   Février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—  LE PROBLÈME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processus coûteux, risqué et archaïque pour tout le monde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51560"/>
            <a:ext cx="54864" cy="3657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Locataires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30352" y="1783080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645618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répété de docs sensibles à chaque agence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" y="2496312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350829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 de perte &amp; problèmes de confidentialité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0352" y="3209544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064061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Oublis fréquents de pièces justificatives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922776"/>
            <a:ext cx="109728" cy="10972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77293"/>
            <a:ext cx="3566160" cy="387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Processus stressant &amp; chronophage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1051560"/>
            <a:ext cx="4160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51560"/>
            <a:ext cx="54864" cy="36576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1143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Agences immobilières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919472" y="1783080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154261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hétérogènes (PDF, photos, scans)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19472" y="249631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2352" y="2263863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min/dossier perdu en vérification manuelle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919472" y="320954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3073347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Risques RGPD majeurs (amendes CNIL jusqu'à 4% CA)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919472" y="392277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02352" y="368230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documentaire en hausse : +40% en 3 ans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4590288"/>
            <a:ext cx="8412480" cy="41148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626864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~1,7M nouveaux baux/an (parc privé) · 20% des dossiers contiennent un faux doc. (Imodirect, fév. 2024) · 30 000 agences exposées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—  LA SOLUTION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PourAccord : la plateforme centralisée, intelligente et conforme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unique &amp; sécurisé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locataire constitue son dossier une seule fois. Hébergement France (OVH), chiffrement AES-256, 2FA.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5468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097280"/>
            <a:ext cx="26974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2918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 multicouche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niveaux de validation : conformité, validité, authenticité, cohérence, détection altérations &amp; métadonnées.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0" y="109728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1097280"/>
            <a:ext cx="26974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120700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12648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 RGPD native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126480" y="192024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Conservation limitée, traçabilité complète, droits des utilisateurs intégrés dès la conception.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971800"/>
            <a:ext cx="269748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 de synthèse IA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/100 + points de vigilance + vivier de candidats qualifiés. ROI immédiat pour les agences.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2971800"/>
            <a:ext cx="26974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29184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Watermark &amp; Stéganographie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9184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document téléchargé est tracé (agence + date + identifiant invisible). Dissuasion contre la fraude.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89320" y="2971800"/>
            <a:ext cx="2697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989320" y="2971800"/>
            <a:ext cx="269748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0" y="308152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126480" y="338328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B2B2C scalable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26480" y="3794760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gratuits (effet réseau), agences payantes 800€/mois. Acquisition via effet viral entrant.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—  MARCHÉ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marché immense, sous-digitalisé, avec un fort vent réglementaire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~1,7M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84048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nouveaux baux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signés/an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7,5M loc. × 23% mobilité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INSEE / SDES 2022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50592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30 000+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560320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immobilières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60320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dont 6 000 en IdF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FNAIM 2024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26864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36592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288M€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36592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estimé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(800€×12 × 30 000)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36592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total adressable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03136" y="1051560"/>
            <a:ext cx="2011680" cy="19202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03136" y="1051560"/>
            <a:ext cx="2011680" cy="457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12864" y="1170432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28,8M€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912864" y="1874520"/>
            <a:ext cx="1792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Y3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(3 000 agences)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12864" y="2423160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10% du marché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 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2920" y="36576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RGPD : amendes jusqu'à 4% du CA (Art. 83 RGPD) — amendes records CNIL 2023-2025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" y="3931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 Fraude documentaire : +40% en 1 an, ~25% des dossiers en IDF falsifiés (Imodirect, fév. 2024)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" y="42062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Digitalisation post-COVID : les agences cherchent des outils cloud pour réduire leurs coûts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44805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Loi ELAN &amp; Décret 2015-1437 : liste légale stricte des pièces exigibles — standardisation réglementaire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—  MODÈLE ÉCONOMIQUE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B2B récurrent avec effet réseau côté locataires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43200" cy="2194560"/>
          </a:xfrm>
          <a:prstGeom prst="rect">
            <a:avLst/>
          </a:prstGeom>
          <a:solidFill>
            <a:srgbClr val="EFF8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54864" cy="2194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572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" y="2176272"/>
            <a:ext cx="2560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organique via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 réseau &amp; partages.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= vecteur viral vers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agences non-clientes.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9000" y="1097280"/>
            <a:ext cx="2743200" cy="219456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11880" y="1188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11880" y="15727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 HT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11880" y="212140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/mois · accès illimité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11880" y="248716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Essai 30 jours gratuit.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illimité aux dossiers,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IA complet, vivier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candidats qualifiés.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37960" y="1097280"/>
            <a:ext cx="2286000" cy="219456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37960" y="109728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1188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V1.1+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20840" y="1572768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~60€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720840" y="21488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/mois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0840" y="248716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Propriétaires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particuliers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dossiers/mois)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V1.1 roadmap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456432"/>
            <a:ext cx="8503920" cy="146304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5478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UNITAIRE  —  PAR AGENCE CLIENTE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800€ HT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ARPU Mensuel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212848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&lt;2 000€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212848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estimé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77056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&lt;5%/mois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3877056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cible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541264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&gt;16 000€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5541264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estimée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205472" y="391363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&gt;8x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05472" y="435254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—  PROJECTIONS FINANCIÈRES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vers 3M€ ARR en 36 mois — hypothèses conservatrices</a:t>
            </a:r>
            <a:endParaRPr lang="en-US" sz="12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3935349266"/>
              </p:ext>
            </p:extLst>
          </p:nvPr>
        </p:nvGraphicFramePr>
        <p:xfrm>
          <a:off x="320040" y="1005840"/>
          <a:ext cx="5038023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0667325"/>
              </p:ext>
            </p:extLst>
          </p:nvPr>
        </p:nvGraphicFramePr>
        <p:xfrm>
          <a:off x="5446295" y="1005840"/>
          <a:ext cx="3386810" cy="2926080"/>
        </p:xfrm>
        <a:graphic>
          <a:graphicData uri="http://schemas.openxmlformats.org/drawingml/2006/table">
            <a:tbl>
              <a:tblPr/>
              <a:tblGrid>
                <a:gridCol w="778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5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75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76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76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Agences payantes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480K€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3,1M€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Locataires inscrits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20040" y="4096512"/>
            <a:ext cx="8503920" cy="804672"/>
          </a:xfrm>
          <a:prstGeom prst="rect">
            <a:avLst/>
          </a:prstGeom>
          <a:solidFill>
            <a:srgbClr val="F0FF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20040" y="4096512"/>
            <a:ext cx="54864" cy="80467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30352" y="41879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Seuil de rentabilité estimé à M14-M16 (infrastructure + 2 ETP). Marges brutes SaaS cibles : &gt;75%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30352" y="454456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Hypothèses : churn 5%/mois, CAC 1 500€, conversion essai 10%, croissance agences +8/mois M1-M12 puis +15/mois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—  TECHNOLOGIE &amp; AVANTAGE COMPÉTITIF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IA propriétaire multicouche impossible à répliquer sans données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4747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Conformité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Champs obligatoires, formats documents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8988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50876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8191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8191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Validité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8191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NIR, SIRET, MRZ — vérification structurelle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2432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74320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81635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Authenticité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1635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Existence entreprise (API INSEE), adresse réelle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5876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97764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5079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05079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Intra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05079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cohérentes au sein d'un même document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9320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21208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8523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28523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Cohérence Inter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8523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Cross-document : revenus, identité, employeur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764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46520" y="1051560"/>
            <a:ext cx="1115568" cy="22860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1967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651967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Intégrité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1967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Métadonnées suspectes, altérations PDF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562088" y="173736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A896"/>
                </a:solidFill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680960" y="1051560"/>
            <a:ext cx="1115568" cy="228600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1143000"/>
            <a:ext cx="969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754112" y="1572768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Supervisé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754112" y="2148840"/>
            <a:ext cx="969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XGBoost auto-améliorant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74320" y="3520440"/>
            <a:ext cx="3840480" cy="82296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363016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global /100  →  🟢 Excellent  🟡 Acceptable  🟠 À vérifier  🔴 Suspect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297680" y="3520440"/>
            <a:ext cx="4526280" cy="137160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3611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BARRIÈRES À L'ENTRÉE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480560" y="397764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Données d'entraînement propriétaires (fraudes labellisées)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480560" y="423367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Effet réseau locataires → agences → locataires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480560" y="448970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Conformité RGPD by-design (coût réplication élevé)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80560" y="4745736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Intégrations API France (INSEE, Adresse) rodées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—  ROADMAP PRODUIT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validation MVP au leadership du marché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2029968"/>
            <a:ext cx="8503920" cy="457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1920240"/>
            <a:ext cx="237744" cy="23774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– M3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" y="2331720"/>
            <a:ext cx="20116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MVP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Node.js + React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2976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anti-fraude (niveaux 1-7)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976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agences + Stripe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2976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complet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privée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1920240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46888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468880" y="2331720"/>
            <a:ext cx="20116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Lancement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57860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utilisateurs (10-20 loc., 3-5 agences)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57860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SEO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7860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ads ciblée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57860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Premiers partenariats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57860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public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394960" y="1920240"/>
            <a:ext cx="237744" cy="23774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1772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– M6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1772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617720" y="2331720"/>
            <a:ext cx="201168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2744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V1.1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744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opt-in locataires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2744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mobile (PWA)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72744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Garants avec compte dédié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2744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IA locataire/bien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72744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Propriétaires particuliers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43800" y="1920240"/>
            <a:ext cx="237744" cy="237744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0" y="1600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– M18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66560" y="2331720"/>
            <a:ext cx="20116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66560" y="2331720"/>
            <a:ext cx="2011680" cy="54864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76288" y="2468880"/>
            <a:ext cx="1810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Scale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876288" y="2880360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publique partenaires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876288" y="3227832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banques &amp; assurances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76288" y="3575304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RH (vérif. candidats)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876288" y="3922776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EU (ES, IT, DE)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76288" y="4270248"/>
            <a:ext cx="1810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 de fonds Série 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—  PAYSAGE CONCURRENTIEL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positionnement unique sur le segment IA anti-fraude + conformité RGPD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51560"/>
          <a:ext cx="8503920" cy="3200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 unique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locataire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 anti-fraude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multicouche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Conformité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RGPD 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 B2B2C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pur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Hébergement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A8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PourAccord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D1F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8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DossierFacile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(PAP/SeLoger)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 agences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Gestia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Outils CRM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Synaps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Verid 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7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434840"/>
            <a:ext cx="8503920" cy="502920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4507992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Notre avantage clé : seule solution combinant IA anti-fraude + RGPD natif + hébergement France + modèle B2B2C viral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—  L'ÉQUIPE FONDATRICE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équipe technique &amp; business avec une compréhension profonde du marché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3444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463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463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&amp; Co-Fondateur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produit · Business Development · Stratégie Go-to-Market · Connaissance secteur immobilier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6499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36499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&amp; Co-Fondateur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36499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cloud · IA/ML · Sécurité RGPD · Développement Full-Stack · Expérience scale-up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80760" y="1097280"/>
            <a:ext cx="269748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097280"/>
            <a:ext cx="54864" cy="28346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95160" y="1234440"/>
            <a:ext cx="868680" cy="868680"/>
          </a:xfrm>
          <a:prstGeom prst="ellipse">
            <a:avLst/>
          </a:prstGeom>
          <a:solidFill>
            <a:srgbClr val="00A896">
              <a:alpha val="85000"/>
            </a:srgbClr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12344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F3C"/>
                </a:solidFill>
              </a:rPr>
              <a:t>N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245352" y="224028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[Nom]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45352" y="26060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Data Scientist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245352" y="297180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&amp; NLP · Modèles anti-fraude supervisés · Computer Vision · Python/FastAPI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4096512"/>
            <a:ext cx="8503920" cy="804672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41605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COMPLÉMENTAIRES — À RECRUTER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441655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Sales (immobilier)   ·   DevOps/Cloud   ·   CSM &amp; Support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41605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CONSEILLERS RECHERCHÉS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4416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RGPD / DPO   ·   Directeur agence immobilière   ·   VC réseau PropTech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—  LEVÉE DE FONDS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· 800K€ à 1,2M€ — pour atteindre le PMF et la répétabilité commerciale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926080" cy="1463040"/>
          </a:xfrm>
          <a:prstGeom prst="rect">
            <a:avLst/>
          </a:prstGeom>
          <a:solidFill>
            <a:srgbClr val="00A896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1887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800K€ – 1,2M€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11480" y="184708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· Equity ou SAFE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C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clôture : T2 2026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105156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9000" y="1051560"/>
            <a:ext cx="54864" cy="1463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143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 AU CLOSING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1508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MVP livré &amp; Beta privée validée (M3)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11880" y="1755648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50 agences payantes · MRR 40K€ (M6)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11880" y="200253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 agences payantes · MRR 80K€ (M9)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11880" y="2249424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Seuil de rentabilité opérationnel (M14)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670048"/>
            <a:ext cx="8503920" cy="2194560"/>
          </a:xfrm>
          <a:prstGeom prst="rect">
            <a:avLst/>
          </a:prstGeom>
          <a:solidFill>
            <a:srgbClr val="0D1F3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76148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DES FONDS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3154680"/>
            <a:ext cx="1463040" cy="20116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02920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~480K€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&amp; IA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85416" y="3154680"/>
            <a:ext cx="1463040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85416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2185416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~360K€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185416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867912" y="3154680"/>
            <a:ext cx="1463040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67912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3867912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~180K€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67912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&amp; Sécu.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550408" y="3154680"/>
            <a:ext cx="1463040" cy="2011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50408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55040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~120K€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50408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Juridique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&amp; IP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232904" y="3154680"/>
            <a:ext cx="1463040" cy="201168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32904" y="3401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7232904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~60K€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232904" y="416966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Divers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—  TRACTION &amp; KPIs CIBLES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métriques SaaS saines et une trajectoire claire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5 000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2880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Locataires M6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payantes M6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82880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Agences contactées M6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607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82880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conversion essai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3756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3756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5643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&gt;80%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0916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Dossiers complets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3756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5643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0916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de partage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3756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3-5x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Consultations/dossier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3756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5643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&lt;30 min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70916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création dossier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080760" y="1051560"/>
            <a:ext cx="2697480" cy="38587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1051560"/>
            <a:ext cx="2697480" cy="54864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0" y="1143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IA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17920" y="162763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6792" y="168249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&lt;5%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7589520" y="176479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faux positifs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17920" y="240487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36792" y="245973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&gt;95%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7589520" y="25420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Précision détection fraude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17920" y="318211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36792" y="323697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&gt;4/5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7589520" y="331927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 agences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217920" y="3959352"/>
            <a:ext cx="2423160" cy="658368"/>
          </a:xfrm>
          <a:prstGeom prst="rect">
            <a:avLst/>
          </a:prstGeom>
          <a:solidFill>
            <a:srgbClr val="1A2F4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36792" y="40142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&lt;10%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7589520" y="409651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mensuel cible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457200"/>
            <a:ext cx="3657600" cy="3657600"/>
          </a:xfrm>
          <a:prstGeom prst="ellipse">
            <a:avLst/>
          </a:prstGeom>
          <a:solidFill>
            <a:srgbClr val="00A896">
              <a:alpha val="8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2926080"/>
            <a:ext cx="2286000" cy="2286000"/>
          </a:xfrm>
          <a:prstGeom prst="ellipse">
            <a:avLst/>
          </a:prstGeom>
          <a:solidFill>
            <a:srgbClr val="02C39A">
              <a:alpha val="7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50292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kern="0" spc="3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REJOIGNEZ-NOUS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11480" y="1115568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révolutionner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confiance locative en France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11480" y="2304288"/>
            <a:ext cx="3200400" cy="3657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248716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Marché 288M€ TAM, sous-digitalisé et en forte demande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871216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 IA propriétaire avec barrières à l'entrée solides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325526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SaaS B2B récurrent à marges élevées (&gt;75% brutes cibles)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639312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800K€–1,2M€ · Clôture T2 2026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11480" y="4224528"/>
            <a:ext cx="8321040" cy="658368"/>
          </a:xfrm>
          <a:prstGeom prst="rect">
            <a:avLst/>
          </a:prstGeom>
          <a:solidFill>
            <a:srgbClr val="15274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43616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contact@pouraccord.com   ·   pouraccord.com   ·   +33 (0) · · · · · · · ·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1450</Words>
  <Application>Microsoft Macintosh PowerPoint</Application>
  <PresentationFormat>Affichage à l'écran (16:9)</PresentationFormat>
  <Paragraphs>342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PourAccord - Pitch Investisseurs</dc:title>
  <dc:subject>PptxGenJS Presentation</dc:subject>
  <dc:creator>PourAccord</dc:creator>
  <cp:lastModifiedBy>Frédéric DETEZ</cp:lastModifiedBy>
  <cp:revision>2</cp:revision>
  <dcterms:created xsi:type="dcterms:W3CDTF">2026-02-17T16:55:26Z</dcterms:created>
  <dcterms:modified xsi:type="dcterms:W3CDTF">2026-02-17T17:15:44Z</dcterms:modified>
</cp:coreProperties>
</file>