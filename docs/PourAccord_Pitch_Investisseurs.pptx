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89"/>
    <p:restoredTop sz="94610"/>
  </p:normalViewPr>
  <p:slideViewPr>
    <p:cSldViewPr snapToGrid="0" snapToObjects="1">
      <p:cViewPr varScale="1">
        <p:scale>
          <a:sx n="184" d="100"/>
          <a:sy n="184" d="100"/>
        </p:scale>
        <p:origin x="19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F3C"/>
                </a:solidFill>
                <a:latin typeface="Arial"/>
              </a:defRPr>
            </a:pPr>
            <a:r>
              <a:rPr lang="fr-FR" sz="1300" b="0" i="0" u="none" strike="noStrike">
                <a:solidFill>
                  <a:srgbClr val="0D1F3C"/>
                </a:solidFill>
                <a:latin typeface="Arial"/>
              </a:rPr>
              <a:t>MRR (€ HT)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(€ HT)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1F3C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M6</c:v>
                </c:pt>
                <c:pt idx="1">
                  <c:v>M12</c:v>
                </c:pt>
                <c:pt idx="2">
                  <c:v>M18</c:v>
                </c:pt>
                <c:pt idx="3">
                  <c:v>M24</c:v>
                </c:pt>
                <c:pt idx="4">
                  <c:v>M30</c:v>
                </c:pt>
                <c:pt idx="5">
                  <c:v>M36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40000</c:v>
                </c:pt>
                <c:pt idx="1">
                  <c:v>100000</c:v>
                </c:pt>
                <c:pt idx="2">
                  <c:v>180000</c:v>
                </c:pt>
                <c:pt idx="3">
                  <c:v>250000</c:v>
                </c:pt>
                <c:pt idx="4">
                  <c:v>200000</c:v>
                </c:pt>
                <c:pt idx="5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C1-3F44-A4CE-640746275F8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1301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00A896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2C39A">
              <a:alpha val="1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de confiance pour les dossiers locatifs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2004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8745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Révolutionner la gestion de dossiers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 grâce à l'IA anti-fraude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30 000+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11480" y="3840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addressable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4612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800€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46120" y="3840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mensuel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8076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B2B2C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80760" y="3840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SaaS récurrent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63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CONFIDENTIEL — INVESTISSEURS   |   Février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LE PROBLÈME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processus coûteux, risqué et archaïque pour tout le monde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51560"/>
            <a:ext cx="54864" cy="3657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143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Locataires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0352" y="1783080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645618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répété de docs sensibles à chaque agence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" y="2496312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350829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de perte &amp; problèmes de confidentialité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" y="3209544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064061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Oublis fréquents de pièces justificatives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922776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77293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stressant &amp; chronophage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51560"/>
            <a:ext cx="54864" cy="3657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1143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Agences immobilières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19472" y="178308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154261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hétérogènes (PDF, photos, scans)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19472" y="24963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2352" y="2263863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min/dossier perdu en vérification manuelle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19472" y="320954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02352" y="3073347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RGPD majeurs (amendes CNIL jusqu'à 4% CA)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19472" y="392277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02352" y="368230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documentaire en hausse : +40% en 3 ans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4590288"/>
            <a:ext cx="8412480" cy="411480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626864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~1,7M nouveaux baux/an (parc privé) · 20% des dossiers contiennent un faux doc. (Imodirect, fév. 2024) · 30 000 agences exposées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LA SOLUTION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 : la plateforme centralisée, intelligente et conforme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07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unique &amp; sécurisé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locataire constitue son dossier une seule fois. Hébergement France (OVH), chiffrement AES-256, 2FA.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26974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207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2918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 multicouche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192024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niveaux de validation : conformité, validité, authenticité, cohérence, détection altérations &amp; métadonnées.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0" y="10972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1097280"/>
            <a:ext cx="269748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207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12648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 native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192024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limitée, traçabilité complète, droits des utilisateurs intégrés dès la conception.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97180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971800"/>
            <a:ext cx="269748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0815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de synthèse IA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794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/100 + points de vigilance + vivier de candidats qualifiés. ROI immédiat pour les agences.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297180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297180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0815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291840" y="3383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Watermark &amp; Stéganographie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91840" y="3794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document téléchargé est tracé (agence + date + identifiant invisible). Dissuasion contre la fraude.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89320" y="297180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89320" y="2971800"/>
            <a:ext cx="269748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0815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126480" y="3383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B2B2C scalable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3794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 gratuits (effet réseau), agences payantes 800€/mois. Acquisition via effet viral entrant.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MARCHÉ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marché immense, sous-digitalisé, avec un fort vent réglementaire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~1,7M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84048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nouveaux baux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signés/an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7,5M loc. × 23% mobilité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INSEE / SDES 2022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50592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30 000+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0320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immobilières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6 000 en IdF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FNAIM 2024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288M€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36592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estimé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(800€×12 × 30 000)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36592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total adressable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03136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12864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28,8M€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912864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Y3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(3 000 agences)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12864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10% du marché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 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657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RGPD : amendes jusqu'à 4% du CA (Art. 83 RGPD) — amendes records CNIL 2023-2025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3931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Fraude documentaire : +40% en 1 an, ~25% des dossiers en IDF falsifiés (Imodirect, fév. 2024)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206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Digitalisation post-COVID : les agences cherchent des outils cloud pour réduire leurs coûts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Loi ELAN &amp; Décret 2015-1437 : liste légale stricte des pièces exigibles — standardisation réglementaire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MODÈLE ÉCONOMIQUE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B2B récurrent avec effet réseau côté locataires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743200" cy="2194560"/>
          </a:xfrm>
          <a:prstGeom prst="rect">
            <a:avLst/>
          </a:prstGeom>
          <a:solidFill>
            <a:srgbClr val="EFF8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54864" cy="2194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72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organique via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réseau &amp; partages.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= vecteur viral vers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agences non-clientes.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097280"/>
            <a:ext cx="2743200" cy="2194560"/>
          </a:xfrm>
          <a:prstGeom prst="rect">
            <a:avLst/>
          </a:prstGeom>
          <a:solidFill>
            <a:srgbClr val="00A896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1188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11880" y="1572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800€ HT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611880" y="2121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/mois · accès illimité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11880" y="248716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 30 jours gratuit.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illimité aux dossiers,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IA complet, vivier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candidats qualifiés.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37960" y="1097280"/>
            <a:ext cx="2286000" cy="219456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37960" y="109728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188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V1.1+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20840" y="15727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~60€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72084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/mois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248716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Propriétaires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dossiers/mois)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V1.1 roadmap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456432"/>
            <a:ext cx="8503920" cy="1463040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5478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UNITAIRE  —  PAR AGENCE CLIENTE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800€ HT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8640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Mensuel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212848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&lt;2 000€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212848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estimé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77056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&lt;5%/mois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877056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cible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41264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&gt;16 000€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541264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estimée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205472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&gt;8x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05472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PROJECTIONS FINANCIÈRES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vers 3M€ ARR en 36 mois — hypothèses conservatrices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935349266"/>
              </p:ext>
            </p:extLst>
          </p:nvPr>
        </p:nvGraphicFramePr>
        <p:xfrm>
          <a:off x="320040" y="1005840"/>
          <a:ext cx="5038023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667325"/>
              </p:ext>
            </p:extLst>
          </p:nvPr>
        </p:nvGraphicFramePr>
        <p:xfrm>
          <a:off x="5446295" y="1005840"/>
          <a:ext cx="3386810" cy="2926080"/>
        </p:xfrm>
        <a:graphic>
          <a:graphicData uri="http://schemas.openxmlformats.org/drawingml/2006/table">
            <a:tbl>
              <a:tblPr/>
              <a:tblGrid>
                <a:gridCol w="778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5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75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76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76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Agences payantes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1,2M€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3M€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3,1M€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Locataires inscrits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20040" y="4096512"/>
            <a:ext cx="8503920" cy="804672"/>
          </a:xfrm>
          <a:prstGeom prst="rect">
            <a:avLst/>
          </a:prstGeom>
          <a:solidFill>
            <a:srgbClr val="F0FF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20040" y="4096512"/>
            <a:ext cx="54864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30352" y="41879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rentabilité estimé à M14-M16 (infrastructure + 2 ETP). Marges brutes SaaS cibles : &gt;75%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30352" y="4544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Hypothèses : churn 5%/mois, CAC 1 500€, conversion essai 10%, croissance agences +8/mois M1-M12 puis +15/mois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TECHNOLOGIE &amp; AVANTAGE COMPÉTITIF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propriétaire multicouche impossible à répliquer sans données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4747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obligatoires, formats documents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8988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50876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8191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8191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8191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NIR, SIRET, MRZ — vérification structurelle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2432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81635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1635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Existence entreprise (API INSEE), adresse réelle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5876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97764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5079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05079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Intra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5079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cohérentes au sein d'un même document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9320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21208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8523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8523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Inter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8523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: revenus, identité, employeur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2764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4652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967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1967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1967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Métadonnées suspectes, altérations PDF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6208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680960" y="1051560"/>
            <a:ext cx="1115568" cy="2286000"/>
          </a:xfrm>
          <a:prstGeom prst="rect">
            <a:avLst/>
          </a:prstGeom>
          <a:solidFill>
            <a:srgbClr val="00A89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5411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75411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Supervisé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5411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XGBoost auto-améliorant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3520440"/>
            <a:ext cx="3840480" cy="82296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63016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global /100  →  🟢 Excellent  🟡 Acceptable  🟠 À vérifier  🔴 Suspect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0" y="3520440"/>
            <a:ext cx="4526280" cy="1529542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3611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BARRIÈRES À L'ENTRÉE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80560" y="39776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Données d'entraînement propriétaires (fraudes labellisées)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480560" y="423367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Effet réseau locataires → agences → locataires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480560" y="448970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Conformité RGPD by-design (coût réplication élevé)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80560" y="474573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Intégrations API France (INSEE, Adresse) rodées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ROADMAP PRODUIT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validation MVP au leadership du marché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2029968"/>
            <a:ext cx="850392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920240"/>
            <a:ext cx="237744" cy="23774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– M3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331720"/>
            <a:ext cx="20116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MVP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Node.js + React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 (niveaux 1-7)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agences + Stripe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complet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privée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920240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6888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68880" y="2331720"/>
            <a:ext cx="20116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Lancement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57860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utilisateurs (10-20 loc., 3-5 agences)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7860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SEO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7860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ads ciblée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7860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partenariats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57860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public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94960" y="1920240"/>
            <a:ext cx="237744" cy="2377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772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– M6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1772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17720" y="2331720"/>
            <a:ext cx="201168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2744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V1.1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744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opt-in locataires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2744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(PWA)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2744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Garants avec compte dédié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2744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IA locataire/bien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2744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Propriétaires particuliers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43800" y="1920240"/>
            <a:ext cx="237744" cy="237744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– M18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6656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66560" y="2331720"/>
            <a:ext cx="20116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7628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Scale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7628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publique partenaires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7628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banques &amp; assurances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7628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RH (vérif. candidats)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7628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EU (ES, IT, DE)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87628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de fonds Série 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PAYSAGE CONCURRENTIEL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positionnement unique sur le segment IA anti-fraude + conformité RGPD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8503920" cy="3200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 unique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locataire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anti-fraude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multicouche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B2B2C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pur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PourAccord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DossierFacile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(PAP/SeLoger)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 agences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Gestia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Outils 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Synaps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Verid 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434840"/>
            <a:ext cx="8503920" cy="50292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450799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Notre avantage clé : seule solution combinant IA anti-fraude + RGPD natif + hébergement France + modèle B2B2C viral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—  L'ÉQUIPE FONDATRICE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technique &amp; business avec une compréhension profonde du marché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54864" cy="2834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1234440"/>
            <a:ext cx="868680" cy="868680"/>
          </a:xfrm>
          <a:prstGeom prst="ellipse">
            <a:avLst/>
          </a:prstGeom>
          <a:solidFill>
            <a:srgbClr val="00A896">
              <a:alpha val="85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1234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</a:rPr>
              <a:t>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4632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Co-Fondateur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" y="2971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produit · Business Development · Stratégie Go-to-Market · Connaissance secteur immobilier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097280"/>
            <a:ext cx="54864" cy="2834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0" y="1234440"/>
            <a:ext cx="868680" cy="868680"/>
          </a:xfrm>
          <a:prstGeom prst="ellipse">
            <a:avLst/>
          </a:prstGeom>
          <a:solidFill>
            <a:srgbClr val="00A896">
              <a:alpha val="85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1234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64992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[Nom]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64992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&amp; Co-Fondateur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2971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cloud · IA/ML · Sécurité RGPD · Développement Full-Stack · Expérience scale-up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109728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097280"/>
            <a:ext cx="54864" cy="2834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95160" y="1234440"/>
            <a:ext cx="868680" cy="868680"/>
          </a:xfrm>
          <a:prstGeom prst="ellipse">
            <a:avLst/>
          </a:prstGeom>
          <a:solidFill>
            <a:srgbClr val="00A896">
              <a:alpha val="85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1234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</a:rPr>
              <a:t>N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45352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[Nom]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45352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Data Scientist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45352" y="2971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&amp; NLP · Modèles anti-fraude supervisés · Computer Vision · Python/FastAPI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4096512"/>
            <a:ext cx="8503920" cy="8046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1605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COMPLÉMENTAIRES — À RECRUTER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44165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Sales (immobilier)   ·   DevOps/Cloud   ·   CSM &amp; Support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41605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CONSEILLERS RECHERCHÉS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4416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RGPD / DPO   ·   Directeur agence immobilière   ·   VC réseau PropTech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—  LEVÉE DE FONDS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· 800K€ à 1,2M€ — pour atteindre le PMF et la répétabilité commerciale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926080" cy="1463040"/>
          </a:xfrm>
          <a:prstGeom prst="rect">
            <a:avLst/>
          </a:prstGeom>
          <a:solidFill>
            <a:srgbClr val="00A896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800K€ – 1,2M€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11480" y="1847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· Equity ou SAFE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clôture : T2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05156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29000" y="1051560"/>
            <a:ext cx="54864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143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AU CLOSING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1508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MVP livré &amp; Beta privée validée (M3)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11880" y="1755648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50 agences payantes · MRR 40K€ (M6)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80" y="200253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 agences payantes · MRR 80K€ (M9)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249424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Seuil de rentabilité opérationnel (M14)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670048"/>
            <a:ext cx="8503920" cy="2194560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761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DES FONDS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1463040" cy="2011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02920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~480K€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85416" y="3154680"/>
            <a:ext cx="146304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85416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185416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~360K€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85416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867912" y="3154680"/>
            <a:ext cx="1463040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67912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867912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~180K€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67912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Sécu.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50408" y="3154680"/>
            <a:ext cx="1463040" cy="2011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0408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55040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~120K€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50408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&amp; IP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232904" y="3154680"/>
            <a:ext cx="1463040" cy="2011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32904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7232904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~60K€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232904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Divers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—  TRACTION &amp; KPIs CIBLES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métriques SaaS saines et une trajectoire claire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8587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68249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828800" y="176479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 M6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0487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4597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2542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payantes M6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8211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331927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contactées M6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4014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40965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conversion essai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1051560"/>
            <a:ext cx="2697480" cy="38587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105156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1143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37560" y="162763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6432" y="168249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09160" y="176479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complets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37560" y="240487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24597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09160" y="2542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partage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37560" y="318211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56432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3-5x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331927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Consultations/dossier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37560" y="395935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56432" y="4014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&lt;30 min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709160" y="40965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création dossier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80760" y="1051560"/>
            <a:ext cx="2697480" cy="38587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105156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43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IA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162763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168249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&lt;5%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589520" y="176479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faux positifs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0487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36792" y="24597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&gt;95%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7589520" y="2542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 détection fraude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17920" y="318211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&gt;4/5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7589520" y="331927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agences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17920" y="395935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36792" y="4014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&lt;10%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7589520" y="40965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mensuel cible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457200"/>
            <a:ext cx="3657600" cy="3657600"/>
          </a:xfrm>
          <a:prstGeom prst="ellipse">
            <a:avLst/>
          </a:prstGeom>
          <a:solidFill>
            <a:srgbClr val="00A896">
              <a:alpha val="8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2926080"/>
            <a:ext cx="2286000" cy="2286000"/>
          </a:xfrm>
          <a:prstGeom prst="ellipse">
            <a:avLst/>
          </a:prstGeom>
          <a:solidFill>
            <a:srgbClr val="02C39A">
              <a:alpha val="7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REJOIGNEZ-NOUS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11480" y="1115568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révolutionner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locative en France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11480" y="2304288"/>
            <a:ext cx="32004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4871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288M€ TAM, sous-digitalisé et en forte demande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87121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IA propriétaire avec barrières à l'entrée solides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325526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SaaS B2B récurrent à marges élevées (&gt;75% brutes cibles)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63931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800K€–1,2M€ · Clôture T2 2026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224528"/>
            <a:ext cx="8321040" cy="6583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contact@pouraccord.com   ·   pouraccord.com   ·   +33 (0) · · · · · · · ·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1450</Words>
  <Application>Microsoft Macintosh PowerPoint</Application>
  <PresentationFormat>Affichage à l'écran (16:9)</PresentationFormat>
  <Paragraphs>342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PourAccord - Pitch Investisseurs</dc:title>
  <dc:subject>PptxGenJS Presentation</dc:subject>
  <dc:creator>PourAccord</dc:creator>
  <cp:lastModifiedBy>Frédéric DETEZ</cp:lastModifiedBy>
  <cp:revision>3</cp:revision>
  <dcterms:created xsi:type="dcterms:W3CDTF">2026-02-17T16:55:26Z</dcterms:created>
  <dcterms:modified xsi:type="dcterms:W3CDTF">2026-03-03T15:27:37Z</dcterms:modified>
</cp:coreProperties>
</file>