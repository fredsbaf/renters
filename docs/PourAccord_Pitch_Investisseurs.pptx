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fr-FR" sz="1300" b="0" i="0" u="none" strike="noStrike">
                <a:solidFill>
                  <a:srgbClr val="0D1F3C"/>
                </a:solidFill>
                <a:latin typeface="Arial"/>
              </a:rPr>
              <a:t>MRR (€ HT)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(€ HT)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F3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40000</c:v>
                </c:pt>
                <c:pt idx="1">
                  <c:v>100000</c:v>
                </c:pt>
                <c:pt idx="2">
                  <c:v>180000</c:v>
                </c:pt>
                <c:pt idx="3">
                  <c:v>250000</c:v>
                </c:pt>
                <c:pt idx="4">
                  <c:v>200000</c:v>
                </c:pt>
                <c:pt idx="5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C1-3F44-A4CE-640746275F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30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POURACCORD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de confiance pour les dossiers locatifs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Révolutionner la gestion de dossiers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locataires grâce à l'IA anti-fraude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addressable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mensuel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SaaS récurrent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 — INVESTISSEURS   |   Février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LE PROBLÈME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coûteux, risqué et archaïque pour tout le monde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3657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Locataires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78308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45618"/>
            <a:ext cx="3566160" cy="38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répété de docs sensibles à chaque agence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49631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0829"/>
            <a:ext cx="3566160" cy="38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perte &amp; problèmes de confidentialité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2095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064061"/>
            <a:ext cx="3566160" cy="38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Oublis fréquents de pièces justificatives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392277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77293"/>
            <a:ext cx="3566160" cy="38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stressant &amp; chronophage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54864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Agences immobilières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19472" y="17830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54261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hétérogènes (PDF, photos, scans)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19472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263863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min/dossier perdu en vérification manuelle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19472" y="32095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073347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RGPD majeurs (amendes CNIL jusqu'à 4% CA)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19472" y="39227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68230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documentaire en hausse : +40% en 3 ans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268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~1,7M nouveaux baux/an (parc privé) · 20% des dossiers contiennent un faux doc. (Imodirect, fév. 2024) · 30 000 agences exposées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LA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PourAccord : la plateforme centralisée, intelligente et conforme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unique &amp; sécurisé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locataire constitue son dossier une seule fois. Hébergement France (OVH), chiffrement AES-256, 2FA.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Anti-fraude multicouche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niveaux de validation : conformité, validité, authenticité, cohérence, détection altérations &amp; métadonnées.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97280"/>
            <a:ext cx="2697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native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limitée, traçabilité complète, droits des utilisateurs intégrés dès la conception.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synthèse 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 + points de vigilance + vivier de candidats qualifiés. ROI immédiat pour les agences.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7180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&amp; Stéganographie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794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document téléchargé est tracé (agence + date + identifiant invisible). Dissuasion contre la fraude.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2971800"/>
            <a:ext cx="26974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2648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B2B2C scalable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794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Locataires gratuits (effet réseau), agences payantes 800€/mois. Acquisition via effet viral entrant.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MARCHÉ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immense, sous-digitalisé, avec un fort vent réglementaire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92024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7043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87452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baux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signés/an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7,5M loc. × 23% mobilité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 / SDES 2022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2011680" cy="192024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7043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87452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immobilières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6 000 en IdF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FNAIM 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2011680" cy="192024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51560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17043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288M€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36592" y="187452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estimé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(800€×12 × 30 000)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total adressable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2011680" cy="192024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51560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117043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28,8M€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12864" y="187452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Y3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(3 000 agences)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10% du marché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RGPD : amendes jusqu'à 4% du CA (Art. 83 RGPD) — amendes records CNIL 2023-2025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Fraude documentaire : +40% en 1 an, ~25% des dossiers en IDF falsifiés (Imodirect, fév. 2024)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Digitalisation post-COVID : les agences cherchent des outils cloud pour réduire leurs coûts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Loi ELAN &amp; Décret 2015-1437 : liste légale stricte des pièces exigibles — standardisation réglementaire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MODÈLE ÉCONOMIQUE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 récurrent avec effet réseau côté locataires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2194560"/>
          </a:xfrm>
          <a:prstGeom prst="rect">
            <a:avLst/>
          </a:prstGeom>
          <a:solidFill>
            <a:srgbClr val="EF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2194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organique via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réseau &amp; partages.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= vecteur viral vers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non-clientes.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097280"/>
            <a:ext cx="2743200" cy="2194560"/>
          </a:xfrm>
          <a:prstGeom prst="rect">
            <a:avLst/>
          </a:prstGeom>
          <a:solidFill>
            <a:srgbClr val="00A89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572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800€ HT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1188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 · accès illimité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4871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30 jours gratuit.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illimité aux dossiers,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IA complet, vivier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candidats qualifiés.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1097280"/>
            <a:ext cx="228600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097280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~60€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4871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dossiers/mois)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V1.1 roadmap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850392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UNITAIRE  —  PAR AGENCE CLIENTE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800€ HT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Mensuel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12848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&lt;2 000€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12848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estimé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77056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&lt;5%/mois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77056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cible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41264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&gt;16 000€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41264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estimée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05472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&gt;8x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05472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PROJECTIONS FINANCIÈRES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vers 3M€ ARR en 36 mois — hypothèses conservatrices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35349266"/>
              </p:ext>
            </p:extLst>
          </p:nvPr>
        </p:nvGraphicFramePr>
        <p:xfrm>
          <a:off x="320040" y="1005840"/>
          <a:ext cx="5038023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667325"/>
              </p:ext>
            </p:extLst>
          </p:nvPr>
        </p:nvGraphicFramePr>
        <p:xfrm>
          <a:off x="5446295" y="1005840"/>
          <a:ext cx="3386810" cy="2926080"/>
        </p:xfrm>
        <a:graphic>
          <a:graphicData uri="http://schemas.openxmlformats.org/drawingml/2006/table">
            <a:tbl>
              <a:tblPr/>
              <a:tblGrid>
                <a:gridCol w="778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Agences payantes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1,2M€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3,1M€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Locataires inscrits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096512"/>
            <a:ext cx="850392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409651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0352" y="4187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 estimé à M14-M16 (infrastructure + 2 ETP). Marges brutes SaaS cibles : &gt;75%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30352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: churn 5%/mois, CAC 1 500€, conversion essai 10%, croissance agences +8/mois M1-M12 puis +15/mois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TECHNOLOGIE &amp; AVANTAGE COMPÉTITIF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propriétaire multicouche impossible à répliquer sans données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obligatoires, formats documents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8988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876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191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NIR, SIRET, MRZ — vérification structurelle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2432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1635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635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entreprise (API INSEE), adresse réelle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5876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7764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5079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5079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cohérentes au sein d'un même document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9320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1208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8523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: revenus, identité, employeur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1051560"/>
            <a:ext cx="1115568" cy="228600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1967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967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suspectes, altérations PDF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62088" y="1737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80960" y="1051560"/>
            <a:ext cx="1115568" cy="2286000"/>
          </a:xfrm>
          <a:prstGeom prst="rect">
            <a:avLst/>
          </a:prstGeom>
          <a:solidFill>
            <a:srgbClr val="00A89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114300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54112" y="1572768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Supervisé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54112" y="214884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auto-améliorant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520440"/>
            <a:ext cx="3840480" cy="82296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30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/100  →  🟢 Excellent  🟡 Acceptable  🟠 À vérifier  🔴 Suspect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3520440"/>
            <a:ext cx="4526280" cy="1529542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BARRIÈRES À L'ENTRÉE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80560" y="39776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Données d'entraînement propriétaires (fraudes labellisées)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233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Effet réseau locataires → agences → locataires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80560" y="44897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Conformité RGPD by-design (coût réplication élevé)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4745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Intégrations API France (INSEE, Adresse) rodées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ROADMAP PRODUIT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validation MVP au leadership du marché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2029968"/>
            <a:ext cx="85039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2024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– M3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88036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+ React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2278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anti-fraude (niveaux 1-7)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5753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agences + Stripe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922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complet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42702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privée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23317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Lancement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8608" y="288036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 (10-20 loc., 3-5 agences)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8608" y="32278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78608" y="35753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ads ciblée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3922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partenariats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42702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public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192024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– M6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3317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V1.1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27448" y="288036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opt-in locataires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27448" y="32278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(PWA)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27448" y="35753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Garants avec compte dédié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27448" y="3922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IA locataire/bien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27448" y="42702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 particuliers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1920240"/>
            <a:ext cx="237744" cy="23774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– M18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2331720"/>
            <a:ext cx="20116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Scale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76288" y="288036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partenaires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76288" y="32278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banques &amp; assurances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35753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RH (vérif. candidats)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76288" y="3922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EU (ES, IT, DE)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76288" y="42702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de fonds Série 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PAYSAGE CONCURRENTIEL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positionnement unique sur le segment IA anti-fraude + conformité RGPD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7818120" cy="318211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anti-fraude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multicouche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B2B2C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PourAccord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DossierFacile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(PAP/SeLoger)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 agences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Gestia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Synaps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Verid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507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Notre avantage clé : seule solution combinant IA anti-fraude + RGPD natif + hébergement France + modèle B2B2C viral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L'ÉQUIPE FONDATRICE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technique &amp; business avec une compréhension profonde du marché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2834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234440"/>
            <a:ext cx="868680" cy="868680"/>
          </a:xfrm>
          <a:prstGeom prst="ellipse">
            <a:avLst/>
          </a:prstGeom>
          <a:solidFill>
            <a:srgbClr val="00A896">
              <a:alpha val="8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F3C"/>
                </a:solidFill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Co-Fondateur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971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produit · Business Development · Stratégie Go-to-Market · Connaissance secteur immobilier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54864" cy="2834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234440"/>
            <a:ext cx="868680" cy="868680"/>
          </a:xfrm>
          <a:prstGeom prst="ellipse">
            <a:avLst/>
          </a:prstGeom>
          <a:solidFill>
            <a:srgbClr val="00A896">
              <a:alpha val="8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F3C"/>
                </a:solidFill>
              </a:rPr>
              <a:t>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64992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Co-Fondateur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971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cloud · IA/ML · Sécurité RGPD · Développement Full-Stack · Expérience scale-up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97280"/>
            <a:ext cx="54864" cy="2834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234440"/>
            <a:ext cx="868680" cy="868680"/>
          </a:xfrm>
          <a:prstGeom prst="ellipse">
            <a:avLst/>
          </a:prstGeom>
          <a:solidFill>
            <a:srgbClr val="00A896">
              <a:alpha val="8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F3C"/>
                </a:solidFill>
              </a:rPr>
              <a:t>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45352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4535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Scientist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5352" y="2971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NLP · Modèles anti-fraude supervisés · Computer Vision · Python/FastAPI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096512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0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COMPLÉMENTAIRES — À RECRUTER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416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 (immobilier)   ·   DevOps/Cloud   ·   CSM &amp; Support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CONSEILLERS RECHERCHÉS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RGPD / DPO   ·   Directeur agence immobilière   ·   VC réseau PropTech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LEVÉE DE FONDS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800K€ à 1,2M€ — pour atteindre le PMF et la répétabilité commerciale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926080" cy="1463040"/>
          </a:xfrm>
          <a:prstGeom prst="rect">
            <a:avLst/>
          </a:prstGeom>
          <a:solidFill>
            <a:srgbClr val="00A89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800K€ – 1,2M€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Equity ou SAFE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clôture : T2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515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051560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143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AU CLOSING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508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livré &amp; Beta privée validée (M3)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175564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 agences payantes · MRR 40K€ (M6)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200253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agences payantes · MRR 80K€ (M9)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11880" y="224942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Seuil de rentabilité opérationnel (M14)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8503920" cy="2194560"/>
          </a:xfrm>
          <a:prstGeom prst="rect">
            <a:avLst/>
          </a:prstGeom>
          <a:solidFill>
            <a:srgbClr val="0D1F3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DES FONDS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1463040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~480K€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85416" y="3154680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5416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18541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~360K€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85416" y="4169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67912" y="3154680"/>
            <a:ext cx="14630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679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~180K€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67912" y="4169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Sécu.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50408" y="3154680"/>
            <a:ext cx="146304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5040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~120K€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0408" y="4169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32904" y="3154680"/>
            <a:ext cx="146304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2904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3290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~60K€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32904" y="4169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Divers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TRACTION &amp; KPIs CIBLES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métriques SaaS saines et une trajectoire claire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858768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824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7647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Locataires M6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4597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5420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payantes M6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2369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33192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contactées M6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40142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0965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conversion essai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697480" cy="3858768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5156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162763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6824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9160" y="17647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complets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40487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4597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25420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partage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18211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2369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89120" y="3319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Consultations/dossier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95935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40142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min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09160" y="40965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création dossier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051560"/>
            <a:ext cx="2697480" cy="3858768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105156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162763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16824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89520" y="17647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faux positifs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40487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24597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589520" y="25420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détection fraude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18211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2369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&gt;4/5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589520" y="33192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agences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959352"/>
            <a:ext cx="242316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40142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589520" y="40965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mensuel cible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02C39A">
              <a:alpha val="7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REJOIGNEZ-NOUS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révolutionner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locative en France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304288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87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288M€ TAM, sous-digitalisé et en forte demande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871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IA propriétaire avec barrières à l'entrée solides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552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SaaS B2B récurrent à marges élevées (&gt;75% brutes cibles)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6393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800K€–1,2M€ · Clôture T2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224528"/>
            <a:ext cx="8321040" cy="658368"/>
          </a:xfrm>
          <a:prstGeom prst="rect">
            <a:avLst/>
          </a:prstGeom>
          <a:solidFill>
            <a:srgbClr val="1527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contact@pouraccord.com   ·   pouraccord.com   ·   +33 (0) · · · · · · · ·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1450</Words>
  <Application>Microsoft Macintosh PowerPoint</Application>
  <PresentationFormat>Affichage à l'écran (16:9)</PresentationFormat>
  <Paragraphs>342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PourAccord - Pitch Investisseurs</dc:title>
  <dc:subject>PptxGenJS Presentation</dc:subject>
  <dc:creator>PourAccord</dc:creator>
  <cp:lastModifiedBy>Frédéric DETEZ</cp:lastModifiedBy>
  <cp:revision>4</cp:revision>
  <dcterms:created xsi:type="dcterms:W3CDTF">2026-02-17T16:55:26Z</dcterms:created>
  <dcterms:modified xsi:type="dcterms:W3CDTF">2026-03-04T07:40:16Z</dcterms:modified>
</cp:coreProperties>
</file>