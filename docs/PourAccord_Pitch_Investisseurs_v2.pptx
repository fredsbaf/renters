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000000"/>
                </a:solidFill>
                <a:latin typeface="Arial"/>
              </a:rPr>
              <a:t>MRR (€ HT)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(€ HT)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M6</c:v>
                </c:pt>
                <c:pt idx="1">
                  <c:v>M12</c:v>
                </c:pt>
                <c:pt idx="2">
                  <c:v>M18</c:v>
                </c:pt>
                <c:pt idx="3">
                  <c:v>M24</c:v>
                </c:pt>
                <c:pt idx="4">
                  <c:v>M30</c:v>
                </c:pt>
                <c:pt idx="5">
                  <c:v>M36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12450</c:v>
                </c:pt>
                <c:pt idx="1">
                  <c:v>31125</c:v>
                </c:pt>
                <c:pt idx="2">
                  <c:v>62250</c:v>
                </c:pt>
                <c:pt idx="3">
                  <c:v>87150</c:v>
                </c:pt>
                <c:pt idx="4">
                  <c:v>112050</c:v>
                </c:pt>
                <c:pt idx="5">
                  <c:v>124500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BE-5040-BDFE-003EFC1F0D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389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PourAccord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4DB6AC"/>
                </a:solidFill>
              </a:rPr>
              <a:t>La plateforme de confiance pour les dossiers locatifs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Révolutionner la gestion de dossiers locataires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grâce à l'IA anti-fraude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2560320" cy="1051560"/>
          </a:xfrm>
          <a:prstGeom prst="rect">
            <a:avLst/>
          </a:prstGeom>
          <a:solidFill>
            <a:srgbClr val="1A305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30 000+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DFDB"/>
                </a:solidFill>
              </a:rPr>
              <a:t>Agences adressables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3246120"/>
            <a:ext cx="2560320" cy="1051560"/>
          </a:xfrm>
          <a:prstGeom prst="rect">
            <a:avLst/>
          </a:prstGeom>
          <a:solidFill>
            <a:srgbClr val="1A305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249€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DFDB"/>
                </a:solidFill>
              </a:rPr>
              <a:t>ARPU médian mensuel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3246120"/>
            <a:ext cx="2560320" cy="1051560"/>
          </a:xfrm>
          <a:prstGeom prst="rect">
            <a:avLst/>
          </a:prstGeom>
          <a:solidFill>
            <a:srgbClr val="1A305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3291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B2B2C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3749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DFDB"/>
                </a:solidFill>
              </a:rPr>
              <a:t>Modèle SaaS récurrent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DOCUMENT CONFIDENTIEL — INVESTISSEURS | Juin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01 — LE PROBLÈME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Un processus coûteux, risqué et archaïque pour tout le monde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35661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Locataires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Envoi répété de documents sensibles à chaque agence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Risque de perte &amp; problèmes de confidentialité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25496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Oublis fréquents de pièces justificatives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8386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Processus stressant &amp; chronophage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005840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005840"/>
            <a:ext cx="64008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Agences immobilières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508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~30 min/dossier </a:t>
            </a:r>
            <a:r>
              <a:rPr lang="en-US" sz="1200" dirty="0" err="1">
                <a:solidFill>
                  <a:srgbClr val="0D1B2A"/>
                </a:solidFill>
              </a:rPr>
              <a:t>passés</a:t>
            </a:r>
            <a:r>
              <a:rPr lang="en-US" sz="1200" dirty="0">
                <a:solidFill>
                  <a:srgbClr val="0D1B2A"/>
                </a:solidFill>
              </a:rPr>
              <a:t> en vérification manuelle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1671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Formats hétérogènes : PDF, photos, scans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82549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Risques RGPD </a:t>
            </a:r>
            <a:r>
              <a:rPr lang="en-US" sz="1200" dirty="0" err="1">
                <a:solidFill>
                  <a:srgbClr val="0D1B2A"/>
                </a:solidFill>
              </a:rPr>
              <a:t>majeurs</a:t>
            </a:r>
            <a:r>
              <a:rPr lang="en-US" sz="1200" dirty="0">
                <a:solidFill>
                  <a:srgbClr val="0D1B2A"/>
                </a:solidFill>
              </a:rPr>
              <a:t> (</a:t>
            </a:r>
            <a:r>
              <a:rPr lang="en-US" sz="1200" dirty="0" err="1">
                <a:solidFill>
                  <a:srgbClr val="0D1B2A"/>
                </a:solidFill>
              </a:rPr>
              <a:t>amendes</a:t>
            </a:r>
            <a:r>
              <a:rPr lang="en-US" sz="1200" dirty="0">
                <a:solidFill>
                  <a:srgbClr val="0D1B2A"/>
                </a:solidFill>
              </a:rPr>
              <a:t> CNIL jusqu'à 4% CA)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348386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Fraude documentaire : +40% en 3 ans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FDB"/>
                </a:solidFill>
              </a:rPr>
              <a:t>⚡  ~1,7M nouveaux baux/an · 20% des dossiers contiennent un faux doc. (Imodirect, fév. 2024) · 30 000 agences exposées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02 — LA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PourAccord : la plateforme centralisée, intelligente et conforme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600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97B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Dossier unique &amp; sécurisé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Hébergement France (OVH), chiffrement AES-256, 2FA. Le locataire constitue son dossier une seule fois.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05840"/>
            <a:ext cx="64008" cy="1600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97B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04488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IA Anti-fraude multicouche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7 niveaux de validation : conformité, validité, authenticité, cohérence, métadonnées.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0058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05840"/>
            <a:ext cx="64008" cy="1600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97B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48856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Conformité RGPD native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0216" y="15087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Conservation limitée, traçabilité complète, droits intégrés dès la conception.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788920"/>
            <a:ext cx="64008" cy="1600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803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97B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2880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Fiche de synthèse 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2918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</a:rPr>
              <a:t>Score /100 + points de vigilance + vivier de candidats qualifiés. ROI immédiat. Détection des signaux faibles</a:t>
            </a:r>
            <a:endParaRPr lang="fr-FR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2788920"/>
            <a:ext cx="64008" cy="1600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8803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97B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04488" y="2880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Watermark &amp; Stéganographie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5848" y="32918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Chaque document téléchargé est tracé (agence + date + identifiant invisible).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27889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2788920"/>
            <a:ext cx="64008" cy="1600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28803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97B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48856" y="288036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Modèle B2B2C scalable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0216" y="32918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Locataires gratuits (effet réseau), agences payantes via plans dégressifs.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03 — MARCHÉ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Un marché immense, sous-digitalisé, avec un fort vent réglementaire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~1,7M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nouveaux baux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signés/an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INSEE / SDES 2022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19659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30 000+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50592" y="15727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immobilières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2011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dont 6 000 en IdF · FNAIM 2024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26864" y="960120"/>
            <a:ext cx="19659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109M€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26864" y="15727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TAM révisé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2011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(249€ × 12 × 36 500 agences)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03136" y="960120"/>
            <a:ext cx="19659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051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10,9M€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03136" y="15727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SAM Year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03136" y="20116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(3 650 agences · 10% du marché)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606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1B2A"/>
                </a:solidFill>
              </a:rPr>
              <a:t>POURQUOI MAINTENANT 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256032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RGPD : amendes jusqu'à 4% du CA (Art. 83) — amendes records CNIL 2023-2025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256032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456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Fraude documentaire : +40% en 1 an, ~25% des dossiers en IDF falsifiés (Imodirect, fév. 2024)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256032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13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Digitalisation post-COVID : les agences cherchent des outils cloud pour réduire leurs coûts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89120"/>
            <a:ext cx="256032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370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Loi ELAN &amp; Décret 2015-1437 : liste légale stricte des pièces exigibles — standardisation réglementaire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04 — MODÈLE ÉCONOMIQUE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SaaS B2B récurrent · Pricing à la valeur, pas à l'accès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DB6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D1B2A"/>
                </a:solidFill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15 dossiers/mois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1488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149€ HT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25786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/mois · accès illimité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8529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</a:rPr>
              <a:t>9,90€/dossier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2004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Dossiers supp. : 8€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697480" cy="3200400"/>
          </a:xfrm>
          <a:prstGeom prst="rect">
            <a:avLst/>
          </a:prstGeom>
          <a:solidFill>
            <a:srgbClr val="00897B"/>
          </a:solidFill>
          <a:ln w="12700">
            <a:solidFill>
              <a:srgbClr val="4DB6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051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PRO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463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2DFDB"/>
                </a:solidFill>
              </a:rPr>
              <a:t>50 dossiers/mois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1828800"/>
            <a:ext cx="2148840" cy="685800"/>
          </a:xfrm>
          <a:prstGeom prst="rect">
            <a:avLst/>
          </a:prstGeom>
          <a:solidFill>
            <a:srgbClr val="1A305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874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349€ HT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0" y="25786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FDB"/>
                </a:solidFill>
              </a:rPr>
              <a:t>/mois · accès illimité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28529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DB6AC"/>
                </a:solidFill>
              </a:rPr>
              <a:t>6,98€/dossier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2004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FDB"/>
                </a:solidFill>
              </a:rPr>
              <a:t>Dossiers supp. : 6€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03320" y="3858768"/>
            <a:ext cx="16916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8587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★  CŒUR DE CIBLE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960120"/>
            <a:ext cx="269748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4DB6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10515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EXPERT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1463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2DFDB"/>
                </a:solidFill>
              </a:rPr>
              <a:t>120 dossiers/mois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1828800"/>
            <a:ext cx="2148840" cy="685800"/>
          </a:xfrm>
          <a:prstGeom prst="rect">
            <a:avLst/>
          </a:prstGeom>
          <a:solidFill>
            <a:srgbClr val="1A305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8745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699€ HT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26480" y="257860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FDB"/>
                </a:solidFill>
              </a:rPr>
              <a:t>/mois · accès illimité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285292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DB6AC"/>
                </a:solidFill>
              </a:rPr>
              <a:t>5,83€/dossier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32004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FDB"/>
                </a:solidFill>
              </a:rPr>
              <a:t>Dossiers supp. : 4€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FDB"/>
                </a:solidFill>
              </a:rPr>
              <a:t>🎁  Essai gratuit · 5 dossiers offerts · Sans CB · Sur invitation — Les agences pilotes testent sur de vrais dossiers et voient la valeur immédiatement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Le message commercial : "7€ pour ne jamais loger un fraudeur" — La valeur d'un seul dossier frauduleux évité justifie plusieurs mois d'abonnement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04b — ÉCONOMIE UNITAIRE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Des métriques SaaS saines — par agence cliente (ARPU pondéré ~249€/mois)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00200" cy="14630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97B"/>
                </a:solidFill>
              </a:rPr>
              <a:t>249€ 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ARPU Mensuel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(pondéré plans)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600200" cy="1463040"/>
          </a:xfrm>
          <a:prstGeom prst="rect">
            <a:avLst/>
          </a:prstGeom>
          <a:solidFill>
            <a:srgbClr val="0D1B2A"/>
          </a:solidFill>
          <a:ln w="25400">
            <a:solidFill>
              <a:srgbClr val="4DB6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B6AC"/>
                </a:solidFill>
              </a:rPr>
              <a:t>&lt;2 000€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0" y="1737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CAC estimé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005840"/>
            <a:ext cx="1600200" cy="1463040"/>
          </a:xfrm>
          <a:prstGeom prst="rect">
            <a:avLst/>
          </a:prstGeom>
          <a:solidFill>
            <a:srgbClr val="0D1B2A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&lt;5%/mois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1737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Churn cible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005840"/>
            <a:ext cx="1600200" cy="14630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97B"/>
                </a:solidFill>
              </a:rPr>
              <a:t>&gt;5 000€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737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LTV estimée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005840"/>
            <a:ext cx="1600200" cy="1463040"/>
          </a:xfrm>
          <a:prstGeom prst="rect">
            <a:avLst/>
          </a:prstGeom>
          <a:solidFill>
            <a:srgbClr val="0D1B2A"/>
          </a:solidFill>
          <a:ln w="25400">
            <a:solidFill>
              <a:srgbClr val="4DB6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DB6AC"/>
                </a:solidFill>
              </a:rPr>
              <a:t>&gt;2,5x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17373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LTV/CAC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B2A"/>
                </a:solidFill>
              </a:rPr>
              <a:t>COMMENT SE CONSTRUIT L'ARPU À 249€ ?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17520"/>
          <a:ext cx="8595360" cy="181660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Prix/mois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estimé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ARPU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(petites agences)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(agences moyennes)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(grandes agences)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~302€ → cible conservatrice 249€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05 — PROJECTIONS FINANCIÈRES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Trajectoire vers 1,5M€ ARR en 36 mois — hypothèses conservatrices avec ARPU 249€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19006414"/>
              </p:ext>
            </p:extLst>
          </p:nvPr>
        </p:nvGraphicFramePr>
        <p:xfrm>
          <a:off x="274320" y="960120"/>
          <a:ext cx="5132251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407745"/>
              </p:ext>
            </p:extLst>
          </p:nvPr>
        </p:nvGraphicFramePr>
        <p:xfrm>
          <a:off x="5515429" y="960120"/>
          <a:ext cx="3445689" cy="2011680"/>
        </p:xfrm>
        <a:graphic>
          <a:graphicData uri="http://schemas.openxmlformats.org/drawingml/2006/table">
            <a:tbl>
              <a:tblPr/>
              <a:tblGrid>
                <a:gridCol w="1110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B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B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B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B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Agences payantes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1,05M€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1,5M€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Locataires inscrits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0" y="3337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Seuil de rentabilité estimé à M14-M16 · Marges brutes SaaS cibles : &gt;75%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2DFDB"/>
                </a:solidFill>
              </a:rPr>
              <a:t>Hypothèses : churn 5%/mois · CAC 1 500€ · conversion essai 10% · croissance +8 agences/mois M1-M12 puis +15/mois · mix Starter 50% / Pro 35% / Expert 15%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06 — TECHNOLOGIE &amp; AVANTAGE COMPÉTITIF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Une IA propriétaire multicouche impossible à répliquer sans données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09728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51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481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Conformité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21488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Champs obligatoires,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formats documents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25880" y="1554480"/>
            <a:ext cx="146304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2184" y="1005840"/>
            <a:ext cx="109728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72184" y="1051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72184" y="1481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Validité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72184" y="21488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Dates, numéros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 série, formats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9464" y="1554480"/>
            <a:ext cx="146304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15768" y="1005840"/>
            <a:ext cx="109728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15768" y="1051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15768" y="1481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Authenticité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15768" y="21488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API INSEE,</a:t>
            </a:r>
            <a:endParaRPr lang="en-US" sz="900" dirty="0"/>
          </a:p>
          <a:p>
            <a:pPr marL="0" indent="0" algn="ctr">
              <a:buNone/>
            </a:pPr>
            <a:r>
              <a:rPr lang="fr-FR" sz="900" dirty="0">
                <a:solidFill>
                  <a:srgbClr val="64748B"/>
                </a:solidFill>
              </a:rPr>
              <a:t>adresse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fr-FR" sz="900" dirty="0">
                <a:solidFill>
                  <a:srgbClr val="64748B"/>
                </a:solidFill>
              </a:rPr>
              <a:t>réel</a:t>
            </a:r>
            <a:r>
              <a:rPr lang="en-US" sz="900" dirty="0">
                <a:solidFill>
                  <a:srgbClr val="64748B"/>
                </a:solidFill>
              </a:rPr>
              <a:t>le…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13048" y="1554480"/>
            <a:ext cx="146304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59352" y="1005840"/>
            <a:ext cx="109728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59352" y="1051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59352" y="1481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Cohérence intra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59352" y="21488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Données cohérentes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 sein du doc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56632" y="1554480"/>
            <a:ext cx="146304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02936" y="1005840"/>
            <a:ext cx="109728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02936" y="1051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02936" y="1481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Cohérence inter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02936" y="21488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Cross-doc : revenus,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identité, employeur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0216" y="1554480"/>
            <a:ext cx="146304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1005840"/>
            <a:ext cx="109728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46520" y="1051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46520" y="1481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Intégrité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21488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Métadonnées, PDF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altérations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43800" y="1554480"/>
            <a:ext cx="146304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90104" y="1005840"/>
            <a:ext cx="109728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90104" y="1051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690104" y="1481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ML Supervisé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90104" y="21488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Random Forest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XGBoost auto-améliorant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Score global /100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200400"/>
            <a:ext cx="173736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200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Excellent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3200400"/>
            <a:ext cx="1737360" cy="34747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0" y="3200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Acceptable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97680" y="3200400"/>
            <a:ext cx="1737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3200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À vérifier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09360" y="3200400"/>
            <a:ext cx="17373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200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Suspect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432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1B2A"/>
                </a:solidFill>
              </a:rPr>
              <a:t>BARRIÈRES À L'ENTRÉE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4320" y="4114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✓ Données d'entraînement propriétaires (fraudes labellisées)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14600" y="4114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✓ Effet réseau locataires → agences → locataires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4114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✓ Conformité RGPD by-design (coût de réplication élevé)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95160" y="4114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✓ Intégrations API France (INSEE, Adresse) rodées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07 — ROADMAP PRODUIT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De la validation MVP au leadership du marché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64008" cy="3886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2011680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M1 – M3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23444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 · MVP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5727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Backend Node.js + React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20756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IA anti-fraude (niveaux 1-7)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25786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Module agences + Stripe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30815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RGPD complet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35844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Beta privée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100584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1005840"/>
            <a:ext cx="64008" cy="38862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1005840"/>
            <a:ext cx="2011680" cy="475488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23160" y="123444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 · Lancement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15727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10-20 loc. · 3-5 agences pilotes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32888" y="20756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Landing page SEO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32888" y="25786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Campagne ads ciblée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32888" y="30815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Premiers partenariats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32888" y="35844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V1.0 public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00584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005840"/>
            <a:ext cx="64008" cy="3886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005840"/>
            <a:ext cx="20116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M5 – M6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7720" y="123444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 · V1.1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27448" y="15727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Recherche opt-in locataires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27448" y="20756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App mobile (PWA)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27448" y="25786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Garants avec compte dédié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27448" y="30815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Matching IA locataire/bien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27448" y="35844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Propriétaires particuliers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12280" y="1005840"/>
            <a:ext cx="2011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12280" y="1005840"/>
            <a:ext cx="64008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1005840"/>
            <a:ext cx="20116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M7 – M18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12280" y="123444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 · Scale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15727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API publique partenaires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22008" y="20756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Module banques &amp; assurances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22008" y="25786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Module RH (vérif. candidats)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22008" y="30815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Expansion EU (ES, IT, DE)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22008" y="35844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Lever de fonds Série 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736592"/>
            <a:ext cx="201168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736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← VOUS ÊTES ICI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08 — PAYSAGE CONCURRENTIEL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Un positionnement unique : IA anti-fraude + RGPD natif + pricing accessible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DB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DB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anti-fraude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DB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 natif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DB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B2B2C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DB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Héberg. France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DB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accessible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PourAccord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DossierFacile (PAP)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Solutions internes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Gestia /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Synaps / VeridIA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434840"/>
            <a:ext cx="91440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B6AC"/>
                </a:solidFill>
              </a:rPr>
              <a:t>★  Notre avantage clé : seule solution combinant IA anti-fraude + RGPD natif + hébergement France + pricing dégressif accessible aux TPE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09 — L'ÉQUIPE FONDATRICE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Une équipe technique &amp; business avec une compréhension profonde du marché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2148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051560"/>
            <a:ext cx="685800" cy="6858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[Nom]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897B"/>
                </a:solidFill>
              </a:rPr>
              <a:t>CEO &amp; Co-Fondateur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Vision produit · Business Development · Stratégie Go-to-Market · Connaissance secteur immobilier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96012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960120"/>
            <a:ext cx="64008" cy="2148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24528" y="1051560"/>
            <a:ext cx="685800" cy="6858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10128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[Nom]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897B"/>
                </a:solidFill>
              </a:rPr>
              <a:t>CTO &amp; Co-Fondateur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Architecture cloud · IA/ML · Sécurité RGPD · Développement Full-Stack · Expérience scale-up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96012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960120"/>
            <a:ext cx="64008" cy="2148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68896" y="1051560"/>
            <a:ext cx="685800" cy="6858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68896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54496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[Nom]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54496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897B"/>
                </a:solidFill>
              </a:rPr>
              <a:t>Lead Data Scientist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54496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OCR &amp; NLP · Modèles anti-fraude supervisés · Computer Vision · Python/FastAPI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246120"/>
            <a:ext cx="411480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37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DB6AC"/>
                </a:solidFill>
              </a:rPr>
              <a:t>BESOINS COMPLÉMENTAIRES — À RECRUTER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Head of Sales (immobilier) · DevOps/Cloud · CSM &amp; Support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246120"/>
            <a:ext cx="429768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9E0B"/>
                </a:solidFill>
              </a:rPr>
              <a:t>CONSEILLERS RECHERCHÉS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657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Expert RGPD / DPO · Directeur agence immobilière · VC réseau PropTech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10 — LEVÉE DE FONDS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Seed Round · 800K€ à 1,2M€ — pour atteindre le PMF et la répétabilité commerciale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920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800K€ – 1,2M€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897B"/>
                </a:solidFill>
              </a:rPr>
              <a:t>Seed Round · Equity ou SAFE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Objectif clôture : T2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B2A"/>
                </a:solidFill>
              </a:rPr>
              <a:t>OBJECTIFS AU CLOSING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325880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075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MVP livré &amp; Beta privée validée (M3)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673352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5506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50 agences payantes · MRR 12,5K€ (M6)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2020824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00253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100 agences payantes · MRR 25K€ (M9)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2368296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3500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Seuil de rentabilité opérationnel (M14)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017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D1B2A"/>
                </a:solidFill>
              </a:rPr>
              <a:t>ALLOCATION DES FONDS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1600200" cy="15544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474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</a:rPr>
              <a:t>40%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" y="39319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~480K€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251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Développement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Tech &amp; IA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0" y="3383280"/>
            <a:ext cx="1600200" cy="1554480"/>
          </a:xfrm>
          <a:prstGeom prst="rect">
            <a:avLst/>
          </a:prstGeom>
          <a:solidFill>
            <a:srgbClr val="0D1B2A"/>
          </a:solidFill>
          <a:ln w="25400">
            <a:solidFill>
              <a:srgbClr val="4DB6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11680" y="3474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DB6AC"/>
                </a:solidFill>
              </a:rPr>
              <a:t>30%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011680" y="39319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~360K€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4251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Sales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Marketing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49040" y="3383280"/>
            <a:ext cx="1600200" cy="1554480"/>
          </a:xfrm>
          <a:prstGeom prst="rect">
            <a:avLst/>
          </a:prstGeom>
          <a:solidFill>
            <a:srgbClr val="0D1B2A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49040" y="3474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15%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749040" y="39319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~180K€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49040" y="4251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Infrastructure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Cloud &amp; Sécu.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3383280"/>
            <a:ext cx="1600200" cy="1554480"/>
          </a:xfrm>
          <a:prstGeom prst="rect">
            <a:avLst/>
          </a:prstGeom>
          <a:solidFill>
            <a:srgbClr val="0D1B2A"/>
          </a:solidFill>
          <a:ln w="254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0" y="3474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10%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~120K€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4251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Juridique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RGPD &amp; IP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23760" y="3383280"/>
            <a:ext cx="1600200" cy="1554480"/>
          </a:xfrm>
          <a:prstGeom prst="rect">
            <a:avLst/>
          </a:prstGeom>
          <a:solidFill>
            <a:srgbClr val="0D1B2A"/>
          </a:solidFill>
          <a:ln w="254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223760" y="3474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5%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223760" y="39319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~60K€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2519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BFR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&amp; Divers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B6AC"/>
                </a:solidFill>
              </a:rPr>
              <a:t>11 — TRACTION &amp; KPIs CIBLES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Des métriques SaaS saines et une trajectoire claire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3931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274320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ACQUISITION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5 000 Locataires M6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50 Agences payantes M6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426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500 Agences contactées M6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095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10% Taux conversion essai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960120"/>
            <a:ext cx="64008" cy="393192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960120"/>
            <a:ext cx="2743200" cy="43891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ENGAGEMENT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&gt;80% Dossiers complets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0756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&gt;60% Taux de partage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55848" y="26426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3-5x Consultations/dossier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32095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&lt;30 min Temps création dossier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3056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960120"/>
            <a:ext cx="64008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960120"/>
            <a:ext cx="274320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9601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QUALITÉ 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0216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&lt;5% Taux faux positifs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0216" y="20756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&gt;95% Précision détection fraude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0216" y="264261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&gt;4/5 NPS agences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0216" y="32095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</a:rPr>
              <a:t>&lt;10% Churn mensuel cible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4DB6AC"/>
                </a:solidFill>
              </a:rPr>
              <a:t>REJOIGNEZ-NOUS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pour révolutionner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 confiance locative en France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500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Marché 109M€ TAM révisé, sous-digitalisé et en forte demande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98064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706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Technologie IA propriétaire avec barrières à l'entrée solides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1912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Modèle SaaS B2B récurrent à marges élevées (&gt;75% brutes cibles)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39312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FFFFFF"/>
                </a:solidFill>
              </a:rPr>
              <a:t>Pricing à la valeur : 149€–699€/mois · 7€/dossier en moyenne.</a:t>
            </a:r>
            <a:endParaRPr lang="fr-FR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59936"/>
            <a:ext cx="201168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3250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Seed Round 800K€–1,2M€ · Clôture T2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contact@pouraccord.com  ·  pouraccord.com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1537</Words>
  <Application>Microsoft Macintosh PowerPoint</Application>
  <PresentationFormat>Affichage à l'écran (16:9)</PresentationFormat>
  <Paragraphs>354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PourAccord — Pitch Investisseurs</dc:title>
  <dc:subject>PptxGenJS Presentation</dc:subject>
  <dc:creator>PptxGenJS</dc:creator>
  <cp:lastModifiedBy>Frédéric DETEZ</cp:lastModifiedBy>
  <cp:revision>5</cp:revision>
  <dcterms:created xsi:type="dcterms:W3CDTF">2026-03-10T09:52:26Z</dcterms:created>
  <dcterms:modified xsi:type="dcterms:W3CDTF">2026-03-10T12:03:40Z</dcterms:modified>
</cp:coreProperties>
</file>