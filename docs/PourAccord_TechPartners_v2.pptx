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64592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1005840"/>
          </a:xfrm>
          <a:prstGeom prst="rect">
            <a:avLst/>
          </a:prstGeom>
          <a:solidFill>
            <a:srgbClr val="00B4A6">
              <a:alpha val="22000"/>
            </a:srgbClr>
          </a:solidFill>
          <a:ln w="12700">
            <a:solidFill>
              <a:srgbClr val="00B4A6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9260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 TECHNOLOGIQUE — ÉDITEURS CRM IMMOBILIER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858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Renters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438912" y="1664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PourAccord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Intégrez l'IA anti-fraude pour dossiers locataires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directement dans votre CRM — via API REST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" y="3108960"/>
            <a:ext cx="2286000" cy="40233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312724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 ·  En cours de développement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contact@pouraccord.com   ·   pouraccord.com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QUE RENCONTRENT VOS CLIENTS AGENCES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processus coûteux, risqué et archaïque — que votre CRM ne résout pas encore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21031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70432"/>
            <a:ext cx="210312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31673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93192" y="18745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hétérogènes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3192" y="2404872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photos, scans illisibles reçus par email. Chaque agence gère un chaos documentaire que votre CRM ne filtre pas.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50592" y="1170432"/>
            <a:ext cx="21031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170432"/>
            <a:ext cx="210312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131673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87752" y="18745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 / dossier perdu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87752" y="2404872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manuelle = coût caché énorme. Aucune valeur ajoutée pour l'agent, aucun ROI pour l'agence.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45152" y="1170432"/>
            <a:ext cx="21031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45152" y="1170432"/>
            <a:ext cx="210312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131673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82312" y="18745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RGPD majeur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82312" y="2404872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Amendes CNIL jusqu'à 4% du CA. 30 000 agences exposées. Vos clients portent ce risque sans solution conforme.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39712" y="1170432"/>
            <a:ext cx="21031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39712" y="1170432"/>
            <a:ext cx="210312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76872" y="131673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76872" y="18745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en hausse +40%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76872" y="2404872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dossier sur 5 contient un faux document (Imodirect 2024). Ni vous ni vos clients ne le détectez aujourd'hui.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183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1,7M nouveaux baux/an  ·  30 000 agences exposées  ·  20% des dossiers contiennent un faux document  (Imodirect, fév. 2024)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RENTERS BY POURACCORD — LA 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IA anti-fraude à 7 niveaux de validation — unique sur le marché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097280" cy="109728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371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818120" y="704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26680" y="11704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26280" y="932688"/>
            <a:ext cx="0" cy="4005072"/>
          </a:xfrm>
          <a:prstGeom prst="line">
            <a:avLst/>
          </a:prstGeom>
          <a:noFill/>
          <a:ln w="12700">
            <a:solidFill>
              <a:srgbClr val="2A4555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274320" y="969264"/>
            <a:ext cx="4160520" cy="896112"/>
          </a:xfrm>
          <a:prstGeom prst="rect">
            <a:avLst/>
          </a:prstGeom>
          <a:solidFill>
            <a:srgbClr val="162535"/>
          </a:solidFill>
          <a:ln w="12700">
            <a:solidFill>
              <a:srgbClr val="243A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042416"/>
            <a:ext cx="402336" cy="402336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042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0241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Exhaustivité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13167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documents requis sont présents selon le profil du locataire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1581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fiche de paie, CNI, justificatif de domicile tous présents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956816"/>
            <a:ext cx="4160520" cy="896112"/>
          </a:xfrm>
          <a:prstGeom prst="rect">
            <a:avLst/>
          </a:prstGeom>
          <a:solidFill>
            <a:srgbClr val="162535"/>
          </a:solidFill>
          <a:ln w="12700">
            <a:solidFill>
              <a:srgbClr val="243A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029968"/>
            <a:ext cx="402336" cy="402336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011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Format, lisibilité et qualité technique des documents vérifiés par OCR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8680" y="25694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PDF lisible, résolution suffisante, champs obligatoires remplis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944368"/>
            <a:ext cx="4160520" cy="896112"/>
          </a:xfrm>
          <a:prstGeom prst="rect">
            <a:avLst/>
          </a:prstGeom>
          <a:solidFill>
            <a:srgbClr val="162535"/>
          </a:solidFill>
          <a:ln w="12700">
            <a:solidFill>
              <a:srgbClr val="243A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017520"/>
            <a:ext cx="402336" cy="402336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17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29992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structurées vérifiées algorithmiquement (NIR, SIRET, MRZ)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68680" y="35570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numéro de sécu cohérent avec la date de naissance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931920"/>
            <a:ext cx="4160520" cy="896112"/>
          </a:xfrm>
          <a:prstGeom prst="rect">
            <a:avLst/>
          </a:prstGeom>
          <a:solidFill>
            <a:srgbClr val="162535"/>
          </a:solidFill>
          <a:ln w="12700">
            <a:solidFill>
              <a:srgbClr val="243A4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005072"/>
            <a:ext cx="402336" cy="402336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39867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Authenticité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de l'entreprise et de l'adresse vérifiées via APIs gouvernementales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68680" y="4544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SIRET validé via API INSEE, adresse confirmée via api.gouv.fr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969264"/>
            <a:ext cx="4160520" cy="896112"/>
          </a:xfrm>
          <a:prstGeom prst="rect">
            <a:avLst/>
          </a:prstGeom>
          <a:solidFill>
            <a:srgbClr val="162535"/>
          </a:solidFill>
          <a:ln w="12700">
            <a:solidFill>
              <a:srgbClr val="243A4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1042416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1042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49240" y="10241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intra-documentaire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49240" y="13167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cohérentes au sein d'un même document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49240" y="1581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montants brut/net cohérents sur la fiche de paie, dates sans contradiction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1956816"/>
            <a:ext cx="4160520" cy="896112"/>
          </a:xfrm>
          <a:prstGeom prst="rect">
            <a:avLst/>
          </a:prstGeom>
          <a:solidFill>
            <a:srgbClr val="162535"/>
          </a:solidFill>
          <a:ln w="12700">
            <a:solidFill>
              <a:srgbClr val="243A4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2029968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49240" y="2011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inter-documentaire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49240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Croisement des informations entre tous les documents du dossier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349240" y="25694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revenus concordants entre bulletins de salaire et avis d'imposition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944368"/>
            <a:ext cx="4160520" cy="896112"/>
          </a:xfrm>
          <a:prstGeom prst="rect">
            <a:avLst/>
          </a:prstGeom>
          <a:solidFill>
            <a:srgbClr val="162535"/>
          </a:solidFill>
          <a:ln w="12700">
            <a:solidFill>
              <a:srgbClr val="243A4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3017520"/>
            <a:ext cx="402336" cy="402336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017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49240" y="29992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Intégrité &amp; Détection d'altération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49240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métadonnées PDF et détection de falsifications visuelles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349240" y="35570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logiciel de retouche détecté dans les métadonnées, police incohérente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8463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Score /100 global  ·  Fiche de synthèse IA  ·  Points de vigilance  ·  Watermark &amp; stéganographie sur chaque document téléchargé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INTÉGRER RENTERS DANS VOTRE CRM 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arguments qui comptent pour votre produit, vos commerciaux et vos clients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70432"/>
            <a:ext cx="64008" cy="16459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280160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Différenciation produit immédiate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0624" y="1755648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Ajoutez une fonctionnalité IA à forte valeur perçue que vos concurrents CRM n'ont pas encore. Un argument de vente décisif face aux agences.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45536" y="1170432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45536" y="1170432"/>
            <a:ext cx="64008" cy="16459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280160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Éliminez le risque RGPD de vos clients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755648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clients agences portent un risque légal réel. Intégrer Renters leur offre la conformité clé en main — et vous différencie en partenaire responsable.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170432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170432"/>
            <a:ext cx="64008" cy="16459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280160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Nouvelle source de revenus récurrents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9632" y="1755648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agence qui active Renters depuis votre CRM génère un revenu récurrent. Modèle à construire ensemble selon votre contexte.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2999232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999232"/>
            <a:ext cx="64008" cy="16459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3108960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Renforcez la rétention clients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0624" y="3584448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votre CRM résout de problèmes critiques, plus il devient indispensable. La gestion dossiers locataires est au cœur du quotidien des agences.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45536" y="2999232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45536" y="2999232"/>
            <a:ext cx="64008" cy="16459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3108960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Intégration rapide via API REST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0128" y="3584448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documentée, webhooks, sandbox de test disponible. Pas de refonte d'architecture — l'intégration s'adapte à votre stack.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2999232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999232"/>
            <a:ext cx="64008" cy="16459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3108960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Premier à proposer cette fonctionnalité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99632" y="3584448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Renters est en cours de développement. Rejoindre maintenant = accès prioritaire, tarifs préférentiels et co-construction de l'API.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L'INTÉGRATION API REST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Renters s'intègre dans votre CRM — simplement et rapidement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475488" cy="47548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2435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L'agence initie le processus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157276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votre CRM, l'agent clique "Demander dossier Renters". Votre CRM appelle notre API et génère un lien de partage.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4068" y="1764792"/>
            <a:ext cx="0" cy="329184"/>
          </a:xfrm>
          <a:prstGeom prst="line">
            <a:avLst/>
          </a:prstGeom>
          <a:noFill/>
          <a:ln w="19050">
            <a:solidFill>
              <a:srgbClr val="008A7E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320040" y="2148840"/>
            <a:ext cx="475488" cy="47548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1305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locataire dépose son dossier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245973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reçoit le lien, constitue son dossier sur Renters (1 fois, réutilisable). Upload sécurisé, guidé et conforme RGPD.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4068" y="2651760"/>
            <a:ext cx="0" cy="329184"/>
          </a:xfrm>
          <a:prstGeom prst="line">
            <a:avLst/>
          </a:prstGeom>
          <a:noFill/>
          <a:ln w="19050">
            <a:solidFill>
              <a:srgbClr val="008A7E"/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320040" y="3035808"/>
            <a:ext cx="475488" cy="47548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35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0175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analyse en temps réel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0120" y="334670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niveaux de validation : conformité, authenticité, cohérence, fraude, métadonnées. Score /100 + rapport généré automatiquement.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4068" y="3538728"/>
            <a:ext cx="0" cy="329184"/>
          </a:xfrm>
          <a:prstGeom prst="line">
            <a:avLst/>
          </a:prstGeom>
          <a:noFill/>
          <a:ln w="19050">
            <a:solidFill>
              <a:srgbClr val="008A7E"/>
            </a:solidFill>
            <a:prstDash val="sysDot"/>
          </a:ln>
        </p:spPr>
      </p:sp>
      <p:sp>
        <p:nvSpPr>
          <p:cNvPr id="19" name="Shape 17"/>
          <p:cNvSpPr/>
          <p:nvPr/>
        </p:nvSpPr>
        <p:spPr>
          <a:xfrm>
            <a:off x="320040" y="3922776"/>
            <a:ext cx="475488" cy="47548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922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39044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remonte dans votre CRM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0120" y="423367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webhook ou polling API : score, statut, fiche de synthèse disponibles directement dans la fiche du bien ou du contact.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40680" y="1143000"/>
            <a:ext cx="3429000" cy="3749040"/>
          </a:xfrm>
          <a:prstGeom prst="rect">
            <a:avLst/>
          </a:prstGeom>
          <a:solidFill>
            <a:srgbClr val="1E3448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40680" y="1143000"/>
            <a:ext cx="3429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126187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DÉTAILS TECHNIQUES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17190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95160" y="171907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 over HTTPS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77840" y="2066544"/>
            <a:ext cx="3154680" cy="0"/>
          </a:xfrm>
          <a:prstGeom prst="line">
            <a:avLst/>
          </a:prstGeom>
          <a:noFill/>
          <a:ln w="6350">
            <a:solidFill>
              <a:srgbClr val="2A4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20939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95160" y="20939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+ JWT Bearer token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77840" y="2441448"/>
            <a:ext cx="3154680" cy="0"/>
          </a:xfrm>
          <a:prstGeom prst="line">
            <a:avLst/>
          </a:prstGeom>
          <a:noFill/>
          <a:ln w="6350">
            <a:solidFill>
              <a:srgbClr val="2A4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24688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95160" y="246888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temps réel résultats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577840" y="2816352"/>
            <a:ext cx="3154680" cy="0"/>
          </a:xfrm>
          <a:prstGeom prst="line">
            <a:avLst/>
          </a:prstGeom>
          <a:noFill/>
          <a:ln w="6350">
            <a:solidFill>
              <a:srgbClr val="2A4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28437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95160" y="28437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de test dédié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77840" y="3191256"/>
            <a:ext cx="3154680" cy="0"/>
          </a:xfrm>
          <a:prstGeom prst="line">
            <a:avLst/>
          </a:prstGeom>
          <a:noFill/>
          <a:ln w="6350">
            <a:solidFill>
              <a:srgbClr val="2A4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3218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95160" y="321868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3.0 (Swagger)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577840" y="3566160"/>
            <a:ext cx="3154680" cy="0"/>
          </a:xfrm>
          <a:prstGeom prst="line">
            <a:avLst/>
          </a:prstGeom>
          <a:noFill/>
          <a:ln w="6350">
            <a:solidFill>
              <a:srgbClr val="2A4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35935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95160" y="359359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 de dev — accès early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577840" y="3941064"/>
            <a:ext cx="3154680" cy="0"/>
          </a:xfrm>
          <a:prstGeom prst="line">
            <a:avLst/>
          </a:prstGeom>
          <a:noFill/>
          <a:ln w="6350">
            <a:solidFill>
              <a:srgbClr val="2A4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77840" y="39684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partenaires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995160" y="39684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négocier selon contrat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577840" y="4315968"/>
            <a:ext cx="3154680" cy="0"/>
          </a:xfrm>
          <a:prstGeom prst="line">
            <a:avLst/>
          </a:prstGeom>
          <a:noFill/>
          <a:ln w="6350">
            <a:solidFill>
              <a:srgbClr val="2A40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0" y="43434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995160" y="434340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Dédié partenaires (email + Slack)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VOS CLIENTS AGENCES GAGNENT CONCRÈTEMENT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résultats mesurables, visibles dès les premières semaines d'utilisation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103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1752" y="1261872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-30 min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01752" y="195681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dossier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1752" y="2304288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automatisée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vérification manuelle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143000"/>
            <a:ext cx="2103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96312" y="1261872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/100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96312" y="195681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instantané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96312" y="2304288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synthèse 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points de vigilance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143000"/>
            <a:ext cx="2103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90872" y="1261872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couches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90872" y="195681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anti-fraude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90872" y="2304288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Conformité, authenticité,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cohérence, métadonnées…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1143000"/>
            <a:ext cx="2103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85432" y="1261872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0€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85432" y="195681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CNIL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85432" y="2304288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natif, traçabilité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complète intégrée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218688"/>
            <a:ext cx="3931920" cy="1600200"/>
          </a:xfrm>
          <a:prstGeom prst="rect">
            <a:avLst/>
          </a:prstGeom>
          <a:solidFill>
            <a:srgbClr val="FFF3F3"/>
          </a:solidFill>
          <a:ln w="12700">
            <a:solidFill>
              <a:srgbClr val="E8A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101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SANS Renters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6941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Dossiers PDF/email hétérogènes, aucun standard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94106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Fraude documentaire non détectée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1879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Risque RGPD non couvert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434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Agent perd 30 min par dossier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92040" y="3218688"/>
            <a:ext cx="3977640" cy="1600200"/>
          </a:xfrm>
          <a:prstGeom prst="rect">
            <a:avLst/>
          </a:prstGeom>
          <a:solidFill>
            <a:srgbClr val="F0FBF8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31012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AVEC Renters via votre CRM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369417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Dossiers standardisés, scorés, prêts en 2 clics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74920" y="3941064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7 niveaux de détection fraude activés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74920" y="418795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RGPD natif, traçabilité totale, zéro amende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74920" y="443484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Gain de temps immédiat, décision éclairée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CONSTRUISONS LE BON MODÈLE ENSEMBLE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sommes ouverts à différentes formes de partenariat — à adapter à votre modèle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2468880"/>
          </a:xfrm>
          <a:prstGeom prst="rect">
            <a:avLst/>
          </a:prstGeom>
          <a:solidFill>
            <a:srgbClr val="1E3448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Revshare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084832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des abonnements générés via votre CRM. Revenu récurrent mensuel garanti pour vous, acquisition qualifiée pour nous.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43200" cy="2468880"/>
          </a:xfrm>
          <a:prstGeom prst="rect">
            <a:avLst/>
          </a:prstGeom>
          <a:solidFill>
            <a:srgbClr val="1E3448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27432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756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Licence API OEM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2084832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API à tarif partenaire préférentiel. Vous intégrez, vous fixez votre pricing, vous capturez la marge.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743200" cy="2468880"/>
          </a:xfrm>
          <a:prstGeom prst="rect">
            <a:avLst/>
          </a:prstGeom>
          <a:solidFill>
            <a:srgbClr val="1E344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4300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À définir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084832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contexte est différent ? Nous sommes ouverts à tout modèle créant de la valeur pour vos clients et une relation durable.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730752"/>
            <a:ext cx="8595360" cy="1170432"/>
          </a:xfrm>
          <a:prstGeom prst="rect">
            <a:avLst/>
          </a:prstGeom>
          <a:solidFill>
            <a:srgbClr val="162535"/>
          </a:solidFill>
          <a:ln w="12700">
            <a:solidFill>
              <a:srgbClr val="2A4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APPORTONS AU PARTENAIRE 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Accès sandbox + doc API complète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 technique dédié (Slack + email)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6324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Accès prioritaire aux nouvelles fonctionnalités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6324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Co-marketing &amp; référencement croisé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6072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Statut Partenaire Certifié PourAccord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76072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Accompagnement à l'intégration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CONFORMITÉ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standards que vos équipes technique et juridique pourront valider sans hésitation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70432"/>
            <a:ext cx="64008" cy="150876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280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Chiffrement AES-256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" y="1700784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documents sont chiffrés en transit et au repos. Standard bancaire.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45536" y="1170432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45536" y="1170432"/>
            <a:ext cx="64008" cy="150876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280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 Hébergement France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700784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sur serveurs OVH France. Aucun transfert hors UE. Souveraineté garantie.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170432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170432"/>
            <a:ext cx="64008" cy="150876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280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RGPD natif by design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99632" y="1700784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Consentements, droits utilisateurs, suppression automatique, registre de traitement.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907792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907792"/>
            <a:ext cx="64008" cy="150876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3017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trail complet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" y="3438144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consultation horodatée et loguée. Traçabilité totale pour conformité.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45536" y="2907792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45536" y="2907792"/>
            <a:ext cx="64008" cy="150876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3017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2FA obligatoire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3438144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deux facteurs forcée sur tous les comptes agences. Zéro compromis.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2907792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907792"/>
            <a:ext cx="64008" cy="150876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3017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  Watermark &amp; Stégano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99632" y="3438144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doc téléchargé est marqué (agence + date + ID invisible). Anti-fuite.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ACCÈS ANTICIPÉ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Rejoindre maintenant = influencer la roadmap API et bénéficier des meilleures conditions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01168" y="1143000"/>
            <a:ext cx="2057400" cy="3566160"/>
          </a:xfrm>
          <a:prstGeom prst="rect">
            <a:avLst/>
          </a:prstGeom>
          <a:solidFill>
            <a:srgbClr val="1E3448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143000"/>
            <a:ext cx="20574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12618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10896" y="1591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1–3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" y="1901952"/>
            <a:ext cx="1737360" cy="2743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10896" y="23317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Infrastructure &amp; Auth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0896" y="284378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IA anti-fraude 7 niveaux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0896" y="335584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Module agence RGPD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0896" y="386791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Beta privée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50008" y="1143000"/>
            <a:ext cx="2057400" cy="3566160"/>
          </a:xfrm>
          <a:prstGeom prst="rect">
            <a:avLst/>
          </a:prstGeom>
          <a:solidFill>
            <a:srgbClr val="1E344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50008" y="1143000"/>
            <a:ext cx="20574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9736" y="12618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459736" y="1591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9736" y="1901952"/>
            <a:ext cx="17373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9736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BIENTÔT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59736" y="23317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Lancement public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59736" y="284378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Agences pilotes (10-20)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59736" y="335584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v1 partenaires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59736" y="386791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Sandbox partenaires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98848" y="1143000"/>
            <a:ext cx="2057400" cy="3566160"/>
          </a:xfrm>
          <a:prstGeom prst="rect">
            <a:avLst/>
          </a:prstGeom>
          <a:solidFill>
            <a:srgbClr val="1E3448"/>
          </a:solidFill>
          <a:ln w="12700">
            <a:solidFill>
              <a:srgbClr val="4A6A8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98848" y="1143000"/>
            <a:ext cx="2057400" cy="73152"/>
          </a:xfrm>
          <a:prstGeom prst="rect">
            <a:avLst/>
          </a:prstGeom>
          <a:solidFill>
            <a:srgbClr val="4A6A80"/>
          </a:solidFill>
          <a:ln w="12700">
            <a:solidFill>
              <a:srgbClr val="4A6A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08576" y="12618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08576" y="1591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5–6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08576" y="1901952"/>
            <a:ext cx="1737360" cy="274320"/>
          </a:xfrm>
          <a:prstGeom prst="rect">
            <a:avLst/>
          </a:prstGeom>
          <a:solidFill>
            <a:srgbClr val="4A6A80">
              <a:alpha val="70000"/>
            </a:srgbClr>
          </a:solidFill>
          <a:ln w="12700">
            <a:solidFill>
              <a:srgbClr val="4A6A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08576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08576" y="23317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 mobile PWA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08576" y="284378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Webhooks avancés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08576" y="335584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SDK partenaires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08576" y="386791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Matching IA locataires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47688" y="1143000"/>
            <a:ext cx="2057400" cy="3566160"/>
          </a:xfrm>
          <a:prstGeom prst="rect">
            <a:avLst/>
          </a:prstGeom>
          <a:solidFill>
            <a:srgbClr val="1E3448"/>
          </a:solidFill>
          <a:ln w="12700">
            <a:solidFill>
              <a:srgbClr val="3A5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47688" y="1143000"/>
            <a:ext cx="2057400" cy="73152"/>
          </a:xfrm>
          <a:prstGeom prst="rect">
            <a:avLst/>
          </a:prstGeom>
          <a:solidFill>
            <a:srgbClr val="3A5060"/>
          </a:solidFill>
          <a:ln w="12700">
            <a:solidFill>
              <a:srgbClr val="3A5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57416" y="12618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757416" y="1591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7–12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57416" y="1901952"/>
            <a:ext cx="1737360" cy="274320"/>
          </a:xfrm>
          <a:prstGeom prst="rect">
            <a:avLst/>
          </a:prstGeom>
          <a:solidFill>
            <a:srgbClr val="3A5060">
              <a:alpha val="70000"/>
            </a:srgbClr>
          </a:solidFill>
          <a:ln w="12700">
            <a:solidFill>
              <a:srgbClr val="3A5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57416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757416" y="23317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publique complète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757416" y="284378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International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757416" y="335584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Banques &amp; assurances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757416" y="386791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Module RH &amp; autres verticals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28600" y="4709160"/>
            <a:ext cx="8686800" cy="338328"/>
          </a:xfrm>
          <a:prstGeom prst="rect">
            <a:avLst/>
          </a:prstGeom>
          <a:solidFill>
            <a:srgbClr val="00B4A6">
              <a:alpha val="90000"/>
            </a:srgbClr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Rejoindre en Phase 2 = accès sandbox en avant-première, tarifs partenaires préférentiels, co-construction de l'API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Intégrons Renters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votre CRM.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êtes éditeur de CRM pour agences immobilières.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clients ont un problème que nous résolvons. Construisons ça ensemble.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514600" cy="1417320"/>
          </a:xfrm>
          <a:prstGeom prst="rect">
            <a:avLst/>
          </a:prstGeom>
          <a:solidFill>
            <a:srgbClr val="162535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9806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Accès Sandbox API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25526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Testez l'intégration dans votre environnement de développement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2697480"/>
            <a:ext cx="2514600" cy="14173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79806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Appel technique (30 min)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74720" y="325526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vous explique l'API et répondons à toutes vos questions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2697480"/>
            <a:ext cx="2514600" cy="1417320"/>
          </a:xfrm>
          <a:prstGeom prst="rect">
            <a:avLst/>
          </a:prstGeom>
          <a:solidFill>
            <a:srgbClr val="162535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279806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Documentation technique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72200" y="325526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Spécifications API, schémas de données et exemples d'intégration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46227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contact@pouraccord.com   ·   pouraccord.com   ·   Partenariats : partenaires@pouraccord.com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PourAccord — Renters — Partenariat CRM Technologique</dc:title>
  <dc:subject>PptxGenJS Presentation</dc:subject>
  <dc:creator>PourAccord</dc:creator>
  <cp:lastModifiedBy>PourAccord</cp:lastModifiedBy>
  <cp:revision>1</cp:revision>
  <dcterms:created xsi:type="dcterms:W3CDTF">2026-03-04T09:22:49Z</dcterms:created>
  <dcterms:modified xsi:type="dcterms:W3CDTF">2026-03-04T09:22:49Z</dcterms:modified>
</cp:coreProperties>
</file>